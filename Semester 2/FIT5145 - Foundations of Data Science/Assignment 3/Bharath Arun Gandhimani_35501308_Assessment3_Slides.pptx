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Glacial Indifference Bold" pitchFamily="2" charset="0"/>
      <p:regular r:id="rId26"/>
      <p:bold r:id="rId27"/>
    </p:embeddedFont>
    <p:embeddedFont>
      <p:font typeface="Roboto" panose="02000000000000000000" pitchFamily="2" charset="0"/>
      <p:regular r:id="rId28"/>
    </p:embeddedFont>
    <p:embeddedFont>
      <p:font typeface="Roboto Bold" panose="02000000000000000000" pitchFamily="2" charset="0"/>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575" autoAdjust="0"/>
  </p:normalViewPr>
  <p:slideViewPr>
    <p:cSldViewPr>
      <p:cViewPr varScale="1">
        <p:scale>
          <a:sx n="98" d="100"/>
          <a:sy n="98" d="100"/>
        </p:scale>
        <p:origin x="224"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1.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2.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3.pn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TextBox 8"/>
          <p:cNvSpPr txBox="1"/>
          <p:nvPr/>
        </p:nvSpPr>
        <p:spPr>
          <a:xfrm>
            <a:off x="6035462" y="6737710"/>
            <a:ext cx="6217076" cy="2390140"/>
          </a:xfrm>
          <a:prstGeom prst="rect">
            <a:avLst/>
          </a:prstGeom>
        </p:spPr>
        <p:txBody>
          <a:bodyPr lIns="0" tIns="0" rIns="0" bIns="0" rtlCol="0" anchor="t">
            <a:spAutoFit/>
          </a:bodyPr>
          <a:lstStyle/>
          <a:p>
            <a:pPr algn="ctr">
              <a:lnSpc>
                <a:spcPts val="4759"/>
              </a:lnSpc>
            </a:pPr>
            <a:r>
              <a:rPr lang="en-US" sz="3399" b="1">
                <a:solidFill>
                  <a:srgbClr val="704926"/>
                </a:solidFill>
                <a:latin typeface="Roboto Bold"/>
                <a:ea typeface="Roboto Bold"/>
                <a:cs typeface="Roboto Bold"/>
                <a:sym typeface="Roboto Bold"/>
              </a:rPr>
              <a:t>Presented by </a:t>
            </a:r>
          </a:p>
          <a:p>
            <a:pPr algn="ctr">
              <a:lnSpc>
                <a:spcPts val="4759"/>
              </a:lnSpc>
            </a:pPr>
            <a:r>
              <a:rPr lang="en-US" sz="3399" b="1">
                <a:solidFill>
                  <a:srgbClr val="704926"/>
                </a:solidFill>
                <a:latin typeface="Roboto Bold"/>
                <a:ea typeface="Roboto Bold"/>
                <a:cs typeface="Roboto Bold"/>
                <a:sym typeface="Roboto Bold"/>
              </a:rPr>
              <a:t>Bharath Arun Gandhimani  Student ID: 35501308</a:t>
            </a:r>
          </a:p>
          <a:p>
            <a:pPr algn="ctr">
              <a:lnSpc>
                <a:spcPts val="4759"/>
              </a:lnSpc>
            </a:pPr>
            <a:endParaRPr lang="en-US" sz="3399" b="1">
              <a:solidFill>
                <a:srgbClr val="704926"/>
              </a:solidFill>
              <a:latin typeface="Roboto Bold"/>
              <a:ea typeface="Roboto Bold"/>
              <a:cs typeface="Roboto Bold"/>
              <a:sym typeface="Roboto Bold"/>
            </a:endParaRPr>
          </a:p>
        </p:txBody>
      </p:sp>
      <p:sp>
        <p:nvSpPr>
          <p:cNvPr id="9" name="TextBox 9"/>
          <p:cNvSpPr txBox="1"/>
          <p:nvPr/>
        </p:nvSpPr>
        <p:spPr>
          <a:xfrm>
            <a:off x="4138845" y="2596485"/>
            <a:ext cx="10010311" cy="729488"/>
          </a:xfrm>
          <a:prstGeom prst="rect">
            <a:avLst/>
          </a:prstGeom>
        </p:spPr>
        <p:txBody>
          <a:bodyPr lIns="0" tIns="0" rIns="0" bIns="0" rtlCol="0" anchor="t">
            <a:spAutoFit/>
          </a:bodyPr>
          <a:lstStyle/>
          <a:p>
            <a:pPr algn="ctr">
              <a:lnSpc>
                <a:spcPts val="5992"/>
              </a:lnSpc>
            </a:pPr>
            <a:r>
              <a:rPr lang="en-US" sz="4280" b="1">
                <a:solidFill>
                  <a:srgbClr val="704926"/>
                </a:solidFill>
                <a:latin typeface="Glacial Indifference Bold"/>
                <a:ea typeface="Glacial Indifference Bold"/>
                <a:cs typeface="Glacial Indifference Bold"/>
                <a:sym typeface="Glacial Indifference Bold"/>
              </a:rPr>
              <a:t>FIT5145</a:t>
            </a:r>
          </a:p>
        </p:txBody>
      </p:sp>
      <p:sp>
        <p:nvSpPr>
          <p:cNvPr id="10" name="TextBox 10"/>
          <p:cNvSpPr txBox="1"/>
          <p:nvPr/>
        </p:nvSpPr>
        <p:spPr>
          <a:xfrm>
            <a:off x="4058434" y="3316359"/>
            <a:ext cx="10171132" cy="1481938"/>
          </a:xfrm>
          <a:prstGeom prst="rect">
            <a:avLst/>
          </a:prstGeom>
        </p:spPr>
        <p:txBody>
          <a:bodyPr lIns="0" tIns="0" rIns="0" bIns="0" rtlCol="0" anchor="t">
            <a:spAutoFit/>
          </a:bodyPr>
          <a:lstStyle/>
          <a:p>
            <a:pPr algn="ctr">
              <a:lnSpc>
                <a:spcPts val="5992"/>
              </a:lnSpc>
            </a:pPr>
            <a:r>
              <a:rPr lang="en-US" sz="4280" b="1">
                <a:solidFill>
                  <a:srgbClr val="704926"/>
                </a:solidFill>
                <a:latin typeface="Glacial Indifference Bold"/>
                <a:ea typeface="Glacial Indifference Bold"/>
                <a:cs typeface="Glacial Indifference Bold"/>
                <a:sym typeface="Glacial Indifference Bold"/>
              </a:rPr>
              <a:t>FOUNDATIONS OF DATA SCIENCE</a:t>
            </a:r>
          </a:p>
          <a:p>
            <a:pPr algn="ctr">
              <a:lnSpc>
                <a:spcPts val="5994"/>
              </a:lnSpc>
            </a:pPr>
            <a:r>
              <a:rPr lang="en-US" sz="4281" b="1">
                <a:solidFill>
                  <a:srgbClr val="704926"/>
                </a:solidFill>
                <a:latin typeface="Glacial Indifference Bold"/>
                <a:ea typeface="Glacial Indifference Bold"/>
                <a:cs typeface="Glacial Indifference Bold"/>
                <a:sym typeface="Glacial Indifference Bold"/>
              </a:rPr>
              <a:t>ASSIGNMENT 3</a:t>
            </a:r>
          </a:p>
        </p:txBody>
      </p:sp>
      <p:sp>
        <p:nvSpPr>
          <p:cNvPr id="11" name="TextBox 11"/>
          <p:cNvSpPr txBox="1"/>
          <p:nvPr/>
        </p:nvSpPr>
        <p:spPr>
          <a:xfrm>
            <a:off x="3722630" y="4788772"/>
            <a:ext cx="10842740" cy="1481913"/>
          </a:xfrm>
          <a:prstGeom prst="rect">
            <a:avLst/>
          </a:prstGeom>
        </p:spPr>
        <p:txBody>
          <a:bodyPr lIns="0" tIns="0" rIns="0" bIns="0" rtlCol="0" anchor="t">
            <a:spAutoFit/>
          </a:bodyPr>
          <a:lstStyle/>
          <a:p>
            <a:pPr algn="ctr">
              <a:lnSpc>
                <a:spcPts val="5994"/>
              </a:lnSpc>
            </a:pPr>
            <a:r>
              <a:rPr lang="en-US" sz="4281" b="1">
                <a:solidFill>
                  <a:srgbClr val="704926"/>
                </a:solidFill>
                <a:latin typeface="Glacial Indifference Bold"/>
                <a:ea typeface="Glacial Indifference Bold"/>
                <a:cs typeface="Glacial Indifference Bold"/>
                <a:sym typeface="Glacial Indifference Bold"/>
              </a:rPr>
              <a:t>TOPIC: PREDICTIVE MODELING OF MAX VERSTAPPEN’S F1 PERFORMANCE </a:t>
            </a:r>
          </a:p>
        </p:txBody>
      </p:sp>
      <p:sp>
        <p:nvSpPr>
          <p:cNvPr id="12" name="Freeform 6">
            <a:extLst>
              <a:ext uri="{FF2B5EF4-FFF2-40B4-BE49-F238E27FC236}">
                <a16:creationId xmlns:a16="http://schemas.microsoft.com/office/drawing/2014/main" id="{61C38662-CBCE-2B30-47F6-54C02D145073}"/>
              </a:ext>
            </a:extLst>
          </p:cNvPr>
          <p:cNvSpPr/>
          <p:nvPr/>
        </p:nvSpPr>
        <p:spPr>
          <a:xfrm rot="1801933">
            <a:off x="-1551651" y="-2726998"/>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688462" y="3377680"/>
            <a:ext cx="13063839" cy="3472180"/>
          </a:xfrm>
          <a:prstGeom prst="rect">
            <a:avLst/>
          </a:prstGeom>
        </p:spPr>
        <p:txBody>
          <a:bodyPr lIns="0" tIns="0" rIns="0" bIns="0" rtlCol="0" anchor="t">
            <a:spAutoFit/>
          </a:bodyPr>
          <a:lstStyle/>
          <a:p>
            <a:pPr algn="just">
              <a:lnSpc>
                <a:spcPts val="3919"/>
              </a:lnSpc>
            </a:pPr>
            <a:endParaRPr/>
          </a:p>
          <a:p>
            <a:pPr algn="just">
              <a:lnSpc>
                <a:spcPts val="3919"/>
              </a:lnSpc>
            </a:pPr>
            <a:r>
              <a:rPr lang="en-US" sz="2799">
                <a:solidFill>
                  <a:srgbClr val="704926"/>
                </a:solidFill>
                <a:latin typeface="Roboto"/>
                <a:ea typeface="Roboto"/>
                <a:cs typeface="Roboto"/>
                <a:sym typeface="Roboto"/>
              </a:rPr>
              <a:t>This project analyzes Max Verstappen to deliver data-driven strategies for enhancing performance. </a:t>
            </a:r>
          </a:p>
          <a:p>
            <a:pPr algn="just">
              <a:lnSpc>
                <a:spcPts val="3919"/>
              </a:lnSpc>
            </a:pPr>
            <a:r>
              <a:rPr lang="en-US" sz="2799">
                <a:solidFill>
                  <a:srgbClr val="704926"/>
                </a:solidFill>
                <a:latin typeface="Roboto"/>
                <a:ea typeface="Roboto"/>
                <a:cs typeface="Roboto"/>
                <a:sym typeface="Roboto"/>
              </a:rPr>
              <a:t>To explain and predict his performance variability influenced by circuit type, competitor strength, and seasonal trends.</a:t>
            </a:r>
          </a:p>
          <a:p>
            <a:pPr algn="just">
              <a:lnSpc>
                <a:spcPts val="3919"/>
              </a:lnSpc>
            </a:pPr>
            <a:endParaRPr lang="en-US" sz="2799">
              <a:solidFill>
                <a:srgbClr val="704926"/>
              </a:solidFill>
              <a:latin typeface="Roboto"/>
              <a:ea typeface="Roboto"/>
              <a:cs typeface="Roboto"/>
              <a:sym typeface="Roboto"/>
            </a:endParaRPr>
          </a:p>
          <a:p>
            <a:pPr algn="just">
              <a:lnSpc>
                <a:spcPts val="3919"/>
              </a:lnSpc>
            </a:pPr>
            <a:endParaRPr lang="en-US" sz="2799">
              <a:solidFill>
                <a:srgbClr val="704926"/>
              </a:solidFill>
              <a:latin typeface="Roboto"/>
              <a:ea typeface="Roboto"/>
              <a:cs typeface="Roboto"/>
              <a:sym typeface="Roboto"/>
            </a:endParaRPr>
          </a:p>
        </p:txBody>
      </p:sp>
      <p:sp>
        <p:nvSpPr>
          <p:cNvPr id="13" name="TextBox 13"/>
          <p:cNvSpPr txBox="1"/>
          <p:nvPr/>
        </p:nvSpPr>
        <p:spPr>
          <a:xfrm>
            <a:off x="4027501" y="857250"/>
            <a:ext cx="10232999" cy="1543050"/>
          </a:xfrm>
          <a:prstGeom prst="rect">
            <a:avLst/>
          </a:prstGeom>
        </p:spPr>
        <p:txBody>
          <a:bodyPr lIns="0" tIns="0" rIns="0" bIns="0" rtlCol="0" anchor="t">
            <a:spAutoFit/>
          </a:bodyPr>
          <a:lstStyle/>
          <a:p>
            <a:pPr algn="ctr">
              <a:lnSpc>
                <a:spcPts val="12599"/>
              </a:lnSpc>
            </a:pPr>
            <a:r>
              <a:rPr lang="en-US" sz="9000" b="1">
                <a:solidFill>
                  <a:srgbClr val="704926"/>
                </a:solidFill>
                <a:latin typeface="Glacial Indifference Bold"/>
                <a:ea typeface="Glacial Indifference Bold"/>
                <a:cs typeface="Glacial Indifference Bold"/>
                <a:sym typeface="Glacial Indifference Bold"/>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162385" y="857250"/>
            <a:ext cx="7963230" cy="1543050"/>
          </a:xfrm>
          <a:prstGeom prst="rect">
            <a:avLst/>
          </a:prstGeom>
        </p:spPr>
        <p:txBody>
          <a:bodyPr lIns="0" tIns="0" rIns="0" bIns="0" rtlCol="0" anchor="t">
            <a:spAutoFit/>
          </a:bodyPr>
          <a:lstStyle/>
          <a:p>
            <a:pPr algn="ctr">
              <a:lnSpc>
                <a:spcPts val="12599"/>
              </a:lnSpc>
            </a:pPr>
            <a:r>
              <a:rPr lang="en-US" sz="9000" b="1">
                <a:solidFill>
                  <a:srgbClr val="704926"/>
                </a:solidFill>
                <a:latin typeface="Glacial Indifference Bold"/>
                <a:ea typeface="Glacial Indifference Bold"/>
                <a:cs typeface="Glacial Indifference Bold"/>
                <a:sym typeface="Glacial Indifference Bold"/>
              </a:rPr>
              <a:t>OBJECTIVES</a:t>
            </a:r>
          </a:p>
        </p:txBody>
      </p:sp>
      <p:sp>
        <p:nvSpPr>
          <p:cNvPr id="13" name="TextBox 13"/>
          <p:cNvSpPr txBox="1"/>
          <p:nvPr/>
        </p:nvSpPr>
        <p:spPr>
          <a:xfrm>
            <a:off x="4027501" y="2930060"/>
            <a:ext cx="11241600" cy="995680"/>
          </a:xfrm>
          <a:prstGeom prst="rect">
            <a:avLst/>
          </a:prstGeom>
        </p:spPr>
        <p:txBody>
          <a:bodyPr lIns="0" tIns="0" rIns="0" bIns="0" rtlCol="0" anchor="t">
            <a:spAutoFit/>
          </a:bodyPr>
          <a:lstStyle/>
          <a:p>
            <a:pPr algn="l">
              <a:lnSpc>
                <a:spcPts val="3919"/>
              </a:lnSpc>
            </a:pPr>
            <a:r>
              <a:rPr lang="en-US" sz="2799">
                <a:solidFill>
                  <a:srgbClr val="704926"/>
                </a:solidFill>
                <a:latin typeface="Roboto"/>
                <a:ea typeface="Roboto"/>
                <a:cs typeface="Roboto"/>
                <a:sym typeface="Roboto"/>
              </a:rPr>
              <a:t>Analyze factors influencing Max Verstappen's finishing positions (e.g., grid position, pit stops).</a:t>
            </a:r>
          </a:p>
        </p:txBody>
      </p:sp>
      <p:sp>
        <p:nvSpPr>
          <p:cNvPr id="14" name="TextBox 14"/>
          <p:cNvSpPr txBox="1"/>
          <p:nvPr/>
        </p:nvSpPr>
        <p:spPr>
          <a:xfrm>
            <a:off x="2424859" y="2722415"/>
            <a:ext cx="1276243" cy="1203325"/>
          </a:xfrm>
          <a:prstGeom prst="rect">
            <a:avLst/>
          </a:prstGeom>
        </p:spPr>
        <p:txBody>
          <a:bodyPr lIns="0" tIns="0" rIns="0" bIns="0" rtlCol="0" anchor="t">
            <a:spAutoFit/>
          </a:bodyPr>
          <a:lstStyle/>
          <a:p>
            <a:pPr algn="l">
              <a:lnSpc>
                <a:spcPts val="9799"/>
              </a:lnSpc>
            </a:pPr>
            <a:r>
              <a:rPr lang="en-US" sz="6999" b="1">
                <a:solidFill>
                  <a:srgbClr val="704926"/>
                </a:solidFill>
                <a:latin typeface="Roboto Bold"/>
                <a:ea typeface="Roboto Bold"/>
                <a:cs typeface="Roboto Bold"/>
                <a:sym typeface="Roboto Bold"/>
              </a:rPr>
              <a:t>01</a:t>
            </a:r>
          </a:p>
        </p:txBody>
      </p:sp>
      <p:sp>
        <p:nvSpPr>
          <p:cNvPr id="15" name="TextBox 15"/>
          <p:cNvSpPr txBox="1"/>
          <p:nvPr/>
        </p:nvSpPr>
        <p:spPr>
          <a:xfrm>
            <a:off x="4027501" y="4607560"/>
            <a:ext cx="11241600" cy="995680"/>
          </a:xfrm>
          <a:prstGeom prst="rect">
            <a:avLst/>
          </a:prstGeom>
        </p:spPr>
        <p:txBody>
          <a:bodyPr lIns="0" tIns="0" rIns="0" bIns="0" rtlCol="0" anchor="t">
            <a:spAutoFit/>
          </a:bodyPr>
          <a:lstStyle/>
          <a:p>
            <a:pPr algn="l">
              <a:lnSpc>
                <a:spcPts val="3919"/>
              </a:lnSpc>
            </a:pPr>
            <a:r>
              <a:rPr lang="en-US" sz="2799">
                <a:solidFill>
                  <a:srgbClr val="704926"/>
                </a:solidFill>
                <a:latin typeface="Roboto"/>
                <a:ea typeface="Roboto"/>
                <a:cs typeface="Roboto"/>
                <a:sym typeface="Roboto"/>
              </a:rPr>
              <a:t>Develop a predictive model to forecast race outcomes using features like qualifying gap and constructor momentum</a:t>
            </a:r>
          </a:p>
        </p:txBody>
      </p:sp>
      <p:sp>
        <p:nvSpPr>
          <p:cNvPr id="16" name="TextBox 16"/>
          <p:cNvSpPr txBox="1"/>
          <p:nvPr/>
        </p:nvSpPr>
        <p:spPr>
          <a:xfrm>
            <a:off x="2424859" y="4364355"/>
            <a:ext cx="1276243" cy="1203325"/>
          </a:xfrm>
          <a:prstGeom prst="rect">
            <a:avLst/>
          </a:prstGeom>
        </p:spPr>
        <p:txBody>
          <a:bodyPr lIns="0" tIns="0" rIns="0" bIns="0" rtlCol="0" anchor="t">
            <a:spAutoFit/>
          </a:bodyPr>
          <a:lstStyle/>
          <a:p>
            <a:pPr algn="l">
              <a:lnSpc>
                <a:spcPts val="9799"/>
              </a:lnSpc>
            </a:pPr>
            <a:r>
              <a:rPr lang="en-US" sz="6999" b="1">
                <a:solidFill>
                  <a:srgbClr val="704926"/>
                </a:solidFill>
                <a:latin typeface="Roboto Bold"/>
                <a:ea typeface="Roboto Bold"/>
                <a:cs typeface="Roboto Bold"/>
                <a:sym typeface="Roboto Bold"/>
              </a:rPr>
              <a:t>02</a:t>
            </a:r>
          </a:p>
        </p:txBody>
      </p:sp>
      <p:sp>
        <p:nvSpPr>
          <p:cNvPr id="17" name="TextBox 17"/>
          <p:cNvSpPr txBox="1"/>
          <p:nvPr/>
        </p:nvSpPr>
        <p:spPr>
          <a:xfrm>
            <a:off x="4027501" y="6143455"/>
            <a:ext cx="11241600" cy="995680"/>
          </a:xfrm>
          <a:prstGeom prst="rect">
            <a:avLst/>
          </a:prstGeom>
        </p:spPr>
        <p:txBody>
          <a:bodyPr lIns="0" tIns="0" rIns="0" bIns="0" rtlCol="0" anchor="t">
            <a:spAutoFit/>
          </a:bodyPr>
          <a:lstStyle/>
          <a:p>
            <a:pPr algn="l">
              <a:lnSpc>
                <a:spcPts val="3919"/>
              </a:lnSpc>
            </a:pPr>
            <a:r>
              <a:rPr lang="en-US" sz="2799">
                <a:solidFill>
                  <a:srgbClr val="704926"/>
                </a:solidFill>
                <a:latin typeface="Roboto"/>
                <a:ea typeface="Roboto"/>
                <a:cs typeface="Roboto"/>
                <a:sym typeface="Roboto"/>
              </a:rPr>
              <a:t>Quantify relationships between operational metrics (pit stop duration, lap time) and results</a:t>
            </a:r>
          </a:p>
        </p:txBody>
      </p:sp>
      <p:sp>
        <p:nvSpPr>
          <p:cNvPr id="18" name="TextBox 18"/>
          <p:cNvSpPr txBox="1"/>
          <p:nvPr/>
        </p:nvSpPr>
        <p:spPr>
          <a:xfrm>
            <a:off x="2424859" y="6006295"/>
            <a:ext cx="1276243" cy="1203325"/>
          </a:xfrm>
          <a:prstGeom prst="rect">
            <a:avLst/>
          </a:prstGeom>
        </p:spPr>
        <p:txBody>
          <a:bodyPr lIns="0" tIns="0" rIns="0" bIns="0" rtlCol="0" anchor="t">
            <a:spAutoFit/>
          </a:bodyPr>
          <a:lstStyle/>
          <a:p>
            <a:pPr algn="l">
              <a:lnSpc>
                <a:spcPts val="9799"/>
              </a:lnSpc>
            </a:pPr>
            <a:r>
              <a:rPr lang="en-US" sz="6999" b="1">
                <a:solidFill>
                  <a:srgbClr val="704926"/>
                </a:solidFill>
                <a:latin typeface="Roboto Bold"/>
                <a:ea typeface="Roboto Bold"/>
                <a:cs typeface="Roboto Bold"/>
                <a:sym typeface="Roboto Bold"/>
              </a:rPr>
              <a:t>03</a:t>
            </a:r>
          </a:p>
        </p:txBody>
      </p:sp>
      <p:sp>
        <p:nvSpPr>
          <p:cNvPr id="19" name="TextBox 19"/>
          <p:cNvSpPr txBox="1"/>
          <p:nvPr/>
        </p:nvSpPr>
        <p:spPr>
          <a:xfrm>
            <a:off x="2424859" y="7550026"/>
            <a:ext cx="1276243" cy="1203325"/>
          </a:xfrm>
          <a:prstGeom prst="rect">
            <a:avLst/>
          </a:prstGeom>
        </p:spPr>
        <p:txBody>
          <a:bodyPr lIns="0" tIns="0" rIns="0" bIns="0" rtlCol="0" anchor="t">
            <a:spAutoFit/>
          </a:bodyPr>
          <a:lstStyle/>
          <a:p>
            <a:pPr algn="l">
              <a:lnSpc>
                <a:spcPts val="9799"/>
              </a:lnSpc>
            </a:pPr>
            <a:r>
              <a:rPr lang="en-US" sz="6999" b="1">
                <a:solidFill>
                  <a:srgbClr val="704926"/>
                </a:solidFill>
                <a:latin typeface="Roboto Bold"/>
                <a:ea typeface="Roboto Bold"/>
                <a:cs typeface="Roboto Bold"/>
                <a:sym typeface="Roboto Bold"/>
              </a:rPr>
              <a:t>04</a:t>
            </a:r>
          </a:p>
        </p:txBody>
      </p:sp>
      <p:sp>
        <p:nvSpPr>
          <p:cNvPr id="20" name="TextBox 20"/>
          <p:cNvSpPr txBox="1"/>
          <p:nvPr/>
        </p:nvSpPr>
        <p:spPr>
          <a:xfrm>
            <a:off x="4027501" y="7672535"/>
            <a:ext cx="11241600" cy="995680"/>
          </a:xfrm>
          <a:prstGeom prst="rect">
            <a:avLst/>
          </a:prstGeom>
        </p:spPr>
        <p:txBody>
          <a:bodyPr lIns="0" tIns="0" rIns="0" bIns="0" rtlCol="0" anchor="t">
            <a:spAutoFit/>
          </a:bodyPr>
          <a:lstStyle/>
          <a:p>
            <a:pPr algn="l">
              <a:lnSpc>
                <a:spcPts val="3919"/>
              </a:lnSpc>
            </a:pPr>
            <a:r>
              <a:rPr lang="en-US" sz="2799">
                <a:solidFill>
                  <a:srgbClr val="704926"/>
                </a:solidFill>
                <a:latin typeface="Roboto"/>
                <a:ea typeface="Roboto"/>
                <a:cs typeface="Roboto"/>
                <a:sym typeface="Roboto"/>
              </a:rPr>
              <a:t>Examine temporal performance trends using rolling averages to understand form momentum.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162385" y="857250"/>
            <a:ext cx="7963230" cy="1543050"/>
          </a:xfrm>
          <a:prstGeom prst="rect">
            <a:avLst/>
          </a:prstGeom>
        </p:spPr>
        <p:txBody>
          <a:bodyPr lIns="0" tIns="0" rIns="0" bIns="0" rtlCol="0" anchor="t">
            <a:spAutoFit/>
          </a:bodyPr>
          <a:lstStyle/>
          <a:p>
            <a:pPr algn="ctr">
              <a:lnSpc>
                <a:spcPts val="12599"/>
              </a:lnSpc>
            </a:pPr>
            <a:r>
              <a:rPr lang="en-US" sz="9000" b="1">
                <a:solidFill>
                  <a:srgbClr val="704926"/>
                </a:solidFill>
                <a:latin typeface="Glacial Indifference Bold"/>
                <a:ea typeface="Glacial Indifference Bold"/>
                <a:cs typeface="Glacial Indifference Bold"/>
                <a:sym typeface="Glacial Indifference Bold"/>
              </a:rPr>
              <a:t>OBJECTIVES</a:t>
            </a:r>
          </a:p>
        </p:txBody>
      </p:sp>
      <p:sp>
        <p:nvSpPr>
          <p:cNvPr id="13" name="TextBox 13"/>
          <p:cNvSpPr txBox="1"/>
          <p:nvPr/>
        </p:nvSpPr>
        <p:spPr>
          <a:xfrm>
            <a:off x="4027501" y="2930060"/>
            <a:ext cx="11241600" cy="995680"/>
          </a:xfrm>
          <a:prstGeom prst="rect">
            <a:avLst/>
          </a:prstGeom>
        </p:spPr>
        <p:txBody>
          <a:bodyPr lIns="0" tIns="0" rIns="0" bIns="0" rtlCol="0" anchor="t">
            <a:spAutoFit/>
          </a:bodyPr>
          <a:lstStyle/>
          <a:p>
            <a:pPr algn="l">
              <a:lnSpc>
                <a:spcPts val="3919"/>
              </a:lnSpc>
            </a:pPr>
            <a:r>
              <a:rPr lang="en-US" sz="2799">
                <a:solidFill>
                  <a:srgbClr val="704926"/>
                </a:solidFill>
                <a:latin typeface="Roboto"/>
                <a:ea typeface="Roboto"/>
                <a:cs typeface="Roboto"/>
                <a:sym typeface="Roboto"/>
              </a:rPr>
              <a:t>Visualize race patterns through extensive exploratory data analysis (EDA).</a:t>
            </a:r>
          </a:p>
        </p:txBody>
      </p:sp>
      <p:sp>
        <p:nvSpPr>
          <p:cNvPr id="14" name="TextBox 14"/>
          <p:cNvSpPr txBox="1"/>
          <p:nvPr/>
        </p:nvSpPr>
        <p:spPr>
          <a:xfrm>
            <a:off x="2424859" y="2722415"/>
            <a:ext cx="1276243" cy="1203325"/>
          </a:xfrm>
          <a:prstGeom prst="rect">
            <a:avLst/>
          </a:prstGeom>
        </p:spPr>
        <p:txBody>
          <a:bodyPr lIns="0" tIns="0" rIns="0" bIns="0" rtlCol="0" anchor="t">
            <a:spAutoFit/>
          </a:bodyPr>
          <a:lstStyle/>
          <a:p>
            <a:pPr algn="l">
              <a:lnSpc>
                <a:spcPts val="9799"/>
              </a:lnSpc>
            </a:pPr>
            <a:r>
              <a:rPr lang="en-US" sz="6999" b="1">
                <a:solidFill>
                  <a:srgbClr val="704926"/>
                </a:solidFill>
                <a:latin typeface="Roboto Bold"/>
                <a:ea typeface="Roboto Bold"/>
                <a:cs typeface="Roboto Bold"/>
                <a:sym typeface="Roboto Bold"/>
              </a:rPr>
              <a:t>05</a:t>
            </a:r>
          </a:p>
        </p:txBody>
      </p:sp>
      <p:sp>
        <p:nvSpPr>
          <p:cNvPr id="15" name="TextBox 15"/>
          <p:cNvSpPr txBox="1"/>
          <p:nvPr/>
        </p:nvSpPr>
        <p:spPr>
          <a:xfrm>
            <a:off x="3883057" y="4766627"/>
            <a:ext cx="11241600" cy="995680"/>
          </a:xfrm>
          <a:prstGeom prst="rect">
            <a:avLst/>
          </a:prstGeom>
        </p:spPr>
        <p:txBody>
          <a:bodyPr lIns="0" tIns="0" rIns="0" bIns="0" rtlCol="0" anchor="t">
            <a:spAutoFit/>
          </a:bodyPr>
          <a:lstStyle/>
          <a:p>
            <a:pPr algn="l">
              <a:lnSpc>
                <a:spcPts val="3919"/>
              </a:lnSpc>
            </a:pPr>
            <a:r>
              <a:rPr lang="en-US" sz="2799">
                <a:solidFill>
                  <a:srgbClr val="704926"/>
                </a:solidFill>
                <a:latin typeface="Roboto"/>
                <a:ea typeface="Roboto"/>
                <a:cs typeface="Roboto"/>
                <a:sym typeface="Roboto"/>
              </a:rPr>
              <a:t>Validate model performance using statistical measures (RMSE, MAE) on training and test data. </a:t>
            </a:r>
          </a:p>
        </p:txBody>
      </p:sp>
      <p:sp>
        <p:nvSpPr>
          <p:cNvPr id="16" name="TextBox 16"/>
          <p:cNvSpPr txBox="1"/>
          <p:nvPr/>
        </p:nvSpPr>
        <p:spPr>
          <a:xfrm>
            <a:off x="2425512" y="4629467"/>
            <a:ext cx="1276243" cy="1203325"/>
          </a:xfrm>
          <a:prstGeom prst="rect">
            <a:avLst/>
          </a:prstGeom>
        </p:spPr>
        <p:txBody>
          <a:bodyPr lIns="0" tIns="0" rIns="0" bIns="0" rtlCol="0" anchor="t">
            <a:spAutoFit/>
          </a:bodyPr>
          <a:lstStyle/>
          <a:p>
            <a:pPr algn="l">
              <a:lnSpc>
                <a:spcPts val="9799"/>
              </a:lnSpc>
            </a:pPr>
            <a:r>
              <a:rPr lang="en-US" sz="6999" b="1">
                <a:solidFill>
                  <a:srgbClr val="704926"/>
                </a:solidFill>
                <a:latin typeface="Roboto Bold"/>
                <a:ea typeface="Roboto Bold"/>
                <a:cs typeface="Roboto Bold"/>
                <a:sym typeface="Roboto Bold"/>
              </a:rPr>
              <a:t>06</a:t>
            </a:r>
          </a:p>
        </p:txBody>
      </p:sp>
      <p:sp>
        <p:nvSpPr>
          <p:cNvPr id="17" name="TextBox 17"/>
          <p:cNvSpPr txBox="1"/>
          <p:nvPr/>
        </p:nvSpPr>
        <p:spPr>
          <a:xfrm>
            <a:off x="4027501" y="6673680"/>
            <a:ext cx="11241600" cy="995680"/>
          </a:xfrm>
          <a:prstGeom prst="rect">
            <a:avLst/>
          </a:prstGeom>
        </p:spPr>
        <p:txBody>
          <a:bodyPr lIns="0" tIns="0" rIns="0" bIns="0" rtlCol="0" anchor="t">
            <a:spAutoFit/>
          </a:bodyPr>
          <a:lstStyle/>
          <a:p>
            <a:pPr algn="l">
              <a:lnSpc>
                <a:spcPts val="3919"/>
              </a:lnSpc>
            </a:pPr>
            <a:r>
              <a:rPr lang="en-US" sz="2799">
                <a:solidFill>
                  <a:srgbClr val="704926"/>
                </a:solidFill>
                <a:latin typeface="Roboto"/>
                <a:ea typeface="Roboto"/>
                <a:cs typeface="Roboto"/>
                <a:sym typeface="Roboto"/>
              </a:rPr>
              <a:t>Apply the model dynamically to forecast future races (e.g., the 2025 Italian Grand Prix).</a:t>
            </a:r>
          </a:p>
        </p:txBody>
      </p:sp>
      <p:sp>
        <p:nvSpPr>
          <p:cNvPr id="18" name="TextBox 18"/>
          <p:cNvSpPr txBox="1"/>
          <p:nvPr/>
        </p:nvSpPr>
        <p:spPr>
          <a:xfrm>
            <a:off x="2424859" y="6536520"/>
            <a:ext cx="1276243" cy="1203325"/>
          </a:xfrm>
          <a:prstGeom prst="rect">
            <a:avLst/>
          </a:prstGeom>
        </p:spPr>
        <p:txBody>
          <a:bodyPr lIns="0" tIns="0" rIns="0" bIns="0" rtlCol="0" anchor="t">
            <a:spAutoFit/>
          </a:bodyPr>
          <a:lstStyle/>
          <a:p>
            <a:pPr algn="l">
              <a:lnSpc>
                <a:spcPts val="9799"/>
              </a:lnSpc>
            </a:pPr>
            <a:r>
              <a:rPr lang="en-US" sz="6999" b="1">
                <a:solidFill>
                  <a:srgbClr val="704926"/>
                </a:solidFill>
                <a:latin typeface="Roboto Bold"/>
                <a:ea typeface="Roboto Bold"/>
                <a:cs typeface="Roboto Bold"/>
                <a:sym typeface="Roboto Bold"/>
              </a:rPr>
              <a:t>07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494674" y="857250"/>
            <a:ext cx="9765825" cy="1543066"/>
          </a:xfrm>
          <a:prstGeom prst="rect">
            <a:avLst/>
          </a:prstGeom>
        </p:spPr>
        <p:txBody>
          <a:bodyPr lIns="0" tIns="0" rIns="0" bIns="0" rtlCol="0" anchor="t">
            <a:spAutoFit/>
          </a:bodyPr>
          <a:lstStyle/>
          <a:p>
            <a:pPr algn="ctr">
              <a:lnSpc>
                <a:spcPts val="12599"/>
              </a:lnSpc>
            </a:pPr>
            <a:r>
              <a:rPr lang="en-US" sz="9000" b="1">
                <a:solidFill>
                  <a:srgbClr val="704926"/>
                </a:solidFill>
                <a:latin typeface="Glacial Indifference Bold"/>
                <a:ea typeface="Glacial Indifference Bold"/>
                <a:cs typeface="Glacial Indifference Bold"/>
                <a:sym typeface="Glacial Indifference Bold"/>
              </a:rPr>
              <a:t>RELATED WORK</a:t>
            </a:r>
          </a:p>
        </p:txBody>
      </p:sp>
      <p:sp>
        <p:nvSpPr>
          <p:cNvPr id="13" name="TextBox 13"/>
          <p:cNvSpPr txBox="1"/>
          <p:nvPr/>
        </p:nvSpPr>
        <p:spPr>
          <a:xfrm>
            <a:off x="2581630" y="3377680"/>
            <a:ext cx="5452866" cy="5948958"/>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704926"/>
                </a:solidFill>
                <a:latin typeface="Roboto"/>
                <a:ea typeface="Roboto"/>
                <a:cs typeface="Roboto"/>
                <a:sym typeface="Roboto"/>
              </a:rPr>
              <a:t>Teams invest heavily in telemetry and machine learning for strategy refinement</a:t>
            </a:r>
          </a:p>
          <a:p>
            <a:pPr marL="604519" lvl="1" indent="-302260" algn="l">
              <a:lnSpc>
                <a:spcPts val="3919"/>
              </a:lnSpc>
              <a:buFont typeface="Arial"/>
              <a:buChar char="•"/>
            </a:pPr>
            <a:r>
              <a:rPr lang="en-US" sz="2799">
                <a:solidFill>
                  <a:srgbClr val="704926"/>
                </a:solidFill>
                <a:latin typeface="Roboto"/>
                <a:ea typeface="Roboto"/>
                <a:cs typeface="Roboto"/>
                <a:sym typeface="Roboto"/>
              </a:rPr>
              <a:t>Prior research (Koh, 2024) analyzed historical race outcomes using descriptive techniques</a:t>
            </a:r>
          </a:p>
          <a:p>
            <a:pPr marL="604519" lvl="1" indent="-302260" algn="l">
              <a:lnSpc>
                <a:spcPts val="3919"/>
              </a:lnSpc>
              <a:buFont typeface="Arial"/>
              <a:buChar char="•"/>
            </a:pPr>
            <a:r>
              <a:rPr lang="en-US" sz="2799">
                <a:solidFill>
                  <a:srgbClr val="704926"/>
                </a:solidFill>
                <a:latin typeface="Roboto"/>
                <a:ea typeface="Roboto"/>
                <a:cs typeface="Roboto"/>
                <a:sym typeface="Roboto"/>
              </a:rPr>
              <a:t>Predictive models often rely on proprietary datasets with complex simulations</a:t>
            </a:r>
          </a:p>
          <a:p>
            <a:pPr algn="l">
              <a:lnSpc>
                <a:spcPts val="3919"/>
              </a:lnSpc>
            </a:pPr>
            <a:endParaRPr lang="en-US" sz="2799">
              <a:solidFill>
                <a:srgbClr val="704926"/>
              </a:solidFill>
              <a:latin typeface="Roboto"/>
              <a:ea typeface="Roboto"/>
              <a:cs typeface="Roboto"/>
              <a:sym typeface="Roboto"/>
            </a:endParaRPr>
          </a:p>
        </p:txBody>
      </p:sp>
      <p:sp>
        <p:nvSpPr>
          <p:cNvPr id="14" name="TextBox 14"/>
          <p:cNvSpPr txBox="1"/>
          <p:nvPr/>
        </p:nvSpPr>
        <p:spPr>
          <a:xfrm>
            <a:off x="379381" y="2809340"/>
            <a:ext cx="11234262" cy="533372"/>
          </a:xfrm>
          <a:prstGeom prst="rect">
            <a:avLst/>
          </a:prstGeom>
        </p:spPr>
        <p:txBody>
          <a:bodyPr lIns="0" tIns="0" rIns="0" bIns="0" rtlCol="0" anchor="t">
            <a:spAutoFit/>
          </a:bodyPr>
          <a:lstStyle/>
          <a:p>
            <a:pPr algn="ctr">
              <a:lnSpc>
                <a:spcPts val="4200"/>
              </a:lnSpc>
            </a:pPr>
            <a:r>
              <a:rPr lang="en-US" sz="3000" b="1">
                <a:solidFill>
                  <a:srgbClr val="704926"/>
                </a:solidFill>
                <a:latin typeface="Roboto Bold"/>
                <a:ea typeface="Roboto Bold"/>
                <a:cs typeface="Roboto Bold"/>
                <a:sym typeface="Roboto Bold"/>
              </a:rPr>
              <a:t>Existing F1 Analytics Landscape:</a:t>
            </a:r>
          </a:p>
        </p:txBody>
      </p:sp>
      <p:sp>
        <p:nvSpPr>
          <p:cNvPr id="15" name="TextBox 15"/>
          <p:cNvSpPr txBox="1"/>
          <p:nvPr/>
        </p:nvSpPr>
        <p:spPr>
          <a:xfrm>
            <a:off x="7053738" y="2809340"/>
            <a:ext cx="11234262" cy="533372"/>
          </a:xfrm>
          <a:prstGeom prst="rect">
            <a:avLst/>
          </a:prstGeom>
        </p:spPr>
        <p:txBody>
          <a:bodyPr lIns="0" tIns="0" rIns="0" bIns="0" rtlCol="0" anchor="t">
            <a:spAutoFit/>
          </a:bodyPr>
          <a:lstStyle/>
          <a:p>
            <a:pPr algn="ctr">
              <a:lnSpc>
                <a:spcPts val="4200"/>
              </a:lnSpc>
            </a:pPr>
            <a:r>
              <a:rPr lang="en-US" sz="3000" b="1">
                <a:solidFill>
                  <a:srgbClr val="704926"/>
                </a:solidFill>
                <a:latin typeface="Roboto Bold"/>
                <a:ea typeface="Roboto Bold"/>
                <a:cs typeface="Roboto Bold"/>
                <a:sym typeface="Roboto Bold"/>
              </a:rPr>
              <a:t>Limitations of Current Approaches:</a:t>
            </a:r>
          </a:p>
        </p:txBody>
      </p:sp>
      <p:sp>
        <p:nvSpPr>
          <p:cNvPr id="16" name="TextBox 16"/>
          <p:cNvSpPr txBox="1"/>
          <p:nvPr/>
        </p:nvSpPr>
        <p:spPr>
          <a:xfrm>
            <a:off x="9512046" y="3377680"/>
            <a:ext cx="5452866" cy="3472342"/>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704926"/>
                </a:solidFill>
                <a:latin typeface="Roboto"/>
                <a:ea typeface="Roboto"/>
                <a:cs typeface="Roboto"/>
                <a:sym typeface="Roboto"/>
              </a:rPr>
              <a:t>Not publicly accessible</a:t>
            </a:r>
          </a:p>
          <a:p>
            <a:pPr marL="604519" lvl="1" indent="-302260" algn="l">
              <a:lnSpc>
                <a:spcPts val="3919"/>
              </a:lnSpc>
              <a:buFont typeface="Arial"/>
              <a:buChar char="•"/>
            </a:pPr>
            <a:r>
              <a:rPr lang="en-US" sz="2799">
                <a:solidFill>
                  <a:srgbClr val="704926"/>
                </a:solidFill>
                <a:latin typeface="Roboto"/>
                <a:ea typeface="Roboto"/>
                <a:cs typeface="Roboto"/>
                <a:sym typeface="Roboto"/>
              </a:rPr>
              <a:t>Focus on broad aggregates rather than driver-specific analysis</a:t>
            </a:r>
          </a:p>
          <a:p>
            <a:pPr marL="604519" lvl="1" indent="-302260" algn="l">
              <a:lnSpc>
                <a:spcPts val="3919"/>
              </a:lnSpc>
              <a:buFont typeface="Arial"/>
              <a:buChar char="•"/>
            </a:pPr>
            <a:r>
              <a:rPr lang="en-US" sz="2799">
                <a:solidFill>
                  <a:srgbClr val="704926"/>
                </a:solidFill>
                <a:latin typeface="Roboto"/>
                <a:ea typeface="Roboto"/>
                <a:cs typeface="Roboto"/>
                <a:sym typeface="Roboto"/>
              </a:rPr>
              <a:t>Limited democratization of insights</a:t>
            </a:r>
          </a:p>
          <a:p>
            <a:pPr algn="l">
              <a:lnSpc>
                <a:spcPts val="3919"/>
              </a:lnSpc>
            </a:pPr>
            <a:endParaRPr lang="en-US" sz="2799">
              <a:solidFill>
                <a:srgbClr val="704926"/>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l">
                <a:lnSpc>
                  <a:spcPts val="2659"/>
                </a:lnSpc>
                <a:spcBef>
                  <a:spcPct val="0"/>
                </a:spcBef>
              </a:pPr>
              <a:endParaRPr/>
            </a:p>
          </p:txBody>
        </p:sp>
      </p:grpSp>
      <p:sp>
        <p:nvSpPr>
          <p:cNvPr id="12" name="TextBox 12"/>
          <p:cNvSpPr txBox="1"/>
          <p:nvPr/>
        </p:nvSpPr>
        <p:spPr>
          <a:xfrm>
            <a:off x="-892985" y="876300"/>
            <a:ext cx="20019968" cy="1351873"/>
          </a:xfrm>
          <a:prstGeom prst="rect">
            <a:avLst/>
          </a:prstGeom>
        </p:spPr>
        <p:txBody>
          <a:bodyPr lIns="0" tIns="0" rIns="0" bIns="0" rtlCol="0" anchor="t">
            <a:spAutoFit/>
          </a:bodyPr>
          <a:lstStyle/>
          <a:p>
            <a:pPr algn="ctr">
              <a:lnSpc>
                <a:spcPts val="11060"/>
              </a:lnSpc>
            </a:pPr>
            <a:r>
              <a:rPr lang="en-US" sz="7900" b="1">
                <a:solidFill>
                  <a:srgbClr val="704926"/>
                </a:solidFill>
                <a:latin typeface="Glacial Indifference Bold"/>
                <a:ea typeface="Glacial Indifference Bold"/>
                <a:cs typeface="Glacial Indifference Bold"/>
                <a:sym typeface="Glacial Indifference Bold"/>
              </a:rPr>
              <a:t>BUSINESS MODEL - STAKEHOLDERS</a:t>
            </a:r>
          </a:p>
        </p:txBody>
      </p:sp>
      <p:sp>
        <p:nvSpPr>
          <p:cNvPr id="13" name="TextBox 13"/>
          <p:cNvSpPr txBox="1"/>
          <p:nvPr/>
        </p:nvSpPr>
        <p:spPr>
          <a:xfrm>
            <a:off x="2038988" y="3179842"/>
            <a:ext cx="14062233" cy="5230317"/>
          </a:xfrm>
          <a:prstGeom prst="rect">
            <a:avLst/>
          </a:prstGeom>
        </p:spPr>
        <p:txBody>
          <a:bodyPr lIns="0" tIns="0" rIns="0" bIns="0" rtlCol="0" anchor="t">
            <a:spAutoFit/>
          </a:bodyPr>
          <a:lstStyle/>
          <a:p>
            <a:pPr algn="l">
              <a:lnSpc>
                <a:spcPts val="4139"/>
              </a:lnSpc>
            </a:pPr>
            <a:r>
              <a:rPr lang="en-US" sz="2957" b="1">
                <a:solidFill>
                  <a:srgbClr val="704926"/>
                </a:solidFill>
                <a:latin typeface="Roboto Bold"/>
                <a:ea typeface="Roboto Bold"/>
                <a:cs typeface="Roboto Bold"/>
                <a:sym typeface="Roboto Bold"/>
              </a:rPr>
              <a:t>Primary Beneficiaries</a:t>
            </a:r>
            <a:r>
              <a:rPr lang="en-US" sz="2957">
                <a:solidFill>
                  <a:srgbClr val="704926"/>
                </a:solidFill>
                <a:latin typeface="Roboto"/>
                <a:ea typeface="Roboto"/>
                <a:cs typeface="Roboto"/>
                <a:sym typeface="Roboto"/>
              </a:rPr>
              <a:t>:</a:t>
            </a:r>
          </a:p>
          <a:p>
            <a:pPr marL="638417" lvl="1" indent="-319208" algn="l">
              <a:lnSpc>
                <a:spcPts val="4139"/>
              </a:lnSpc>
              <a:buFont typeface="Arial"/>
              <a:buChar char="•"/>
            </a:pPr>
            <a:r>
              <a:rPr lang="en-US" sz="2957" b="1">
                <a:solidFill>
                  <a:srgbClr val="704926"/>
                </a:solidFill>
                <a:latin typeface="Roboto Bold"/>
                <a:ea typeface="Roboto Bold"/>
                <a:cs typeface="Roboto Bold"/>
                <a:sym typeface="Roboto Bold"/>
              </a:rPr>
              <a:t>Drivers &amp; Race Engineers</a:t>
            </a:r>
            <a:r>
              <a:rPr lang="en-US" sz="2957">
                <a:solidFill>
                  <a:srgbClr val="704926"/>
                </a:solidFill>
                <a:latin typeface="Roboto"/>
                <a:ea typeface="Roboto"/>
                <a:cs typeface="Roboto"/>
                <a:sym typeface="Roboto"/>
              </a:rPr>
              <a:t> - refine pre-race preparation and in-race decision-making.</a:t>
            </a:r>
          </a:p>
          <a:p>
            <a:pPr marL="638417" lvl="1" indent="-319208" algn="l">
              <a:lnSpc>
                <a:spcPts val="4139"/>
              </a:lnSpc>
              <a:buFont typeface="Arial"/>
              <a:buChar char="•"/>
            </a:pPr>
            <a:r>
              <a:rPr lang="en-US" sz="2957" b="1">
                <a:solidFill>
                  <a:srgbClr val="704926"/>
                </a:solidFill>
                <a:latin typeface="Roboto Bold"/>
                <a:ea typeface="Roboto Bold"/>
                <a:cs typeface="Roboto Bold"/>
                <a:sym typeface="Roboto Bold"/>
              </a:rPr>
              <a:t>Team Strategists (Red Bull Racing)</a:t>
            </a:r>
            <a:r>
              <a:rPr lang="en-US" sz="2957">
                <a:solidFill>
                  <a:srgbClr val="704926"/>
                </a:solidFill>
                <a:latin typeface="Roboto"/>
                <a:ea typeface="Roboto"/>
                <a:cs typeface="Roboto"/>
                <a:sym typeface="Roboto"/>
              </a:rPr>
              <a:t> - Optimize pit-stop timing, tire strategy, and rival analysis</a:t>
            </a:r>
          </a:p>
          <a:p>
            <a:pPr marL="638417" lvl="1" indent="-319208" algn="l">
              <a:lnSpc>
                <a:spcPts val="4139"/>
              </a:lnSpc>
              <a:buFont typeface="Arial"/>
              <a:buChar char="•"/>
            </a:pPr>
            <a:r>
              <a:rPr lang="en-US" sz="2957" b="1">
                <a:solidFill>
                  <a:srgbClr val="704926"/>
                </a:solidFill>
                <a:latin typeface="Roboto Bold"/>
                <a:ea typeface="Roboto Bold"/>
                <a:cs typeface="Roboto Bold"/>
                <a:sym typeface="Roboto Bold"/>
              </a:rPr>
              <a:t>F1 Management &amp; Sponsors</a:t>
            </a:r>
            <a:r>
              <a:rPr lang="en-US" sz="2957">
                <a:solidFill>
                  <a:srgbClr val="704926"/>
                </a:solidFill>
                <a:latin typeface="Roboto"/>
                <a:ea typeface="Roboto"/>
                <a:cs typeface="Roboto"/>
                <a:sym typeface="Roboto"/>
              </a:rPr>
              <a:t> - Highlight performance narratives to engage fans and improve brand value</a:t>
            </a:r>
          </a:p>
          <a:p>
            <a:pPr marL="638417" lvl="1" indent="-319208" algn="l">
              <a:lnSpc>
                <a:spcPts val="4139"/>
              </a:lnSpc>
              <a:buFont typeface="Arial"/>
              <a:buChar char="•"/>
            </a:pPr>
            <a:r>
              <a:rPr lang="en-US" sz="2957" b="1">
                <a:solidFill>
                  <a:srgbClr val="704926"/>
                </a:solidFill>
                <a:latin typeface="Roboto Bold"/>
                <a:ea typeface="Roboto Bold"/>
                <a:cs typeface="Roboto Bold"/>
                <a:sym typeface="Roboto Bold"/>
              </a:rPr>
              <a:t>Fans &amp; Media Analysts </a:t>
            </a:r>
            <a:r>
              <a:rPr lang="en-US" sz="2957">
                <a:solidFill>
                  <a:srgbClr val="704926"/>
                </a:solidFill>
                <a:latin typeface="Roboto"/>
                <a:ea typeface="Roboto"/>
                <a:cs typeface="Roboto"/>
                <a:sym typeface="Roboto"/>
              </a:rPr>
              <a:t>- Access deeper insights about race strategy beyond surface-level statistics</a:t>
            </a:r>
          </a:p>
          <a:p>
            <a:pPr algn="ctr">
              <a:lnSpc>
                <a:spcPts val="4139"/>
              </a:lnSpc>
            </a:pPr>
            <a:endParaRPr lang="en-US" sz="2957">
              <a:solidFill>
                <a:srgbClr val="704926"/>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l">
                <a:lnSpc>
                  <a:spcPts val="2659"/>
                </a:lnSpc>
                <a:spcBef>
                  <a:spcPct val="0"/>
                </a:spcBef>
              </a:pPr>
              <a:endParaRPr/>
            </a:p>
          </p:txBody>
        </p:sp>
      </p:grpSp>
      <p:sp>
        <p:nvSpPr>
          <p:cNvPr id="12" name="TextBox 12"/>
          <p:cNvSpPr txBox="1"/>
          <p:nvPr/>
        </p:nvSpPr>
        <p:spPr>
          <a:xfrm>
            <a:off x="-892985" y="876300"/>
            <a:ext cx="20019968" cy="1351873"/>
          </a:xfrm>
          <a:prstGeom prst="rect">
            <a:avLst/>
          </a:prstGeom>
        </p:spPr>
        <p:txBody>
          <a:bodyPr lIns="0" tIns="0" rIns="0" bIns="0" rtlCol="0" anchor="t">
            <a:spAutoFit/>
          </a:bodyPr>
          <a:lstStyle/>
          <a:p>
            <a:pPr algn="ctr">
              <a:lnSpc>
                <a:spcPts val="11060"/>
              </a:lnSpc>
            </a:pPr>
            <a:r>
              <a:rPr lang="en-US" sz="7900" b="1">
                <a:solidFill>
                  <a:srgbClr val="704926"/>
                </a:solidFill>
                <a:latin typeface="Glacial Indifference Bold"/>
                <a:ea typeface="Glacial Indifference Bold"/>
                <a:cs typeface="Glacial Indifference Bold"/>
                <a:sym typeface="Glacial Indifference Bold"/>
              </a:rPr>
              <a:t>VALUE PROPOSITION</a:t>
            </a:r>
          </a:p>
        </p:txBody>
      </p:sp>
      <p:sp>
        <p:nvSpPr>
          <p:cNvPr id="13" name="TextBox 13"/>
          <p:cNvSpPr txBox="1"/>
          <p:nvPr/>
        </p:nvSpPr>
        <p:spPr>
          <a:xfrm>
            <a:off x="2038988" y="2761745"/>
            <a:ext cx="14062233" cy="6277605"/>
          </a:xfrm>
          <a:prstGeom prst="rect">
            <a:avLst/>
          </a:prstGeom>
        </p:spPr>
        <p:txBody>
          <a:bodyPr lIns="0" tIns="0" rIns="0" bIns="0" rtlCol="0" anchor="t">
            <a:spAutoFit/>
          </a:bodyPr>
          <a:lstStyle/>
          <a:p>
            <a:pPr algn="l">
              <a:lnSpc>
                <a:spcPts val="4139"/>
              </a:lnSpc>
            </a:pPr>
            <a:r>
              <a:rPr lang="en-US" sz="2957" b="1">
                <a:solidFill>
                  <a:srgbClr val="704926"/>
                </a:solidFill>
                <a:latin typeface="Roboto Bold"/>
                <a:ea typeface="Roboto Bold"/>
                <a:cs typeface="Roboto Bold"/>
                <a:sym typeface="Roboto Bold"/>
              </a:rPr>
              <a:t>Broader Applications:</a:t>
            </a:r>
          </a:p>
          <a:p>
            <a:pPr algn="l">
              <a:lnSpc>
                <a:spcPts val="4139"/>
              </a:lnSpc>
            </a:pPr>
            <a:r>
              <a:rPr lang="en-US" sz="2957">
                <a:solidFill>
                  <a:srgbClr val="704926"/>
                </a:solidFill>
                <a:latin typeface="Roboto"/>
                <a:ea typeface="Roboto"/>
                <a:cs typeface="Roboto"/>
                <a:sym typeface="Roboto"/>
              </a:rPr>
              <a:t>Scalable Beyond Motorsport</a:t>
            </a:r>
          </a:p>
          <a:p>
            <a:pPr marL="638417" lvl="1" indent="-319208" algn="l">
              <a:lnSpc>
                <a:spcPts val="4139"/>
              </a:lnSpc>
              <a:buFont typeface="Arial"/>
              <a:buChar char="•"/>
            </a:pPr>
            <a:r>
              <a:rPr lang="en-US" sz="2957">
                <a:solidFill>
                  <a:srgbClr val="704926"/>
                </a:solidFill>
                <a:latin typeface="Roboto"/>
                <a:ea typeface="Roboto"/>
                <a:cs typeface="Roboto"/>
                <a:sym typeface="Roboto"/>
              </a:rPr>
              <a:t>Methodology applicable to industries where proprietary analytics create barriers</a:t>
            </a:r>
          </a:p>
          <a:p>
            <a:pPr marL="638417" lvl="1" indent="-319208" algn="l">
              <a:lnSpc>
                <a:spcPts val="4139"/>
              </a:lnSpc>
              <a:buFont typeface="Arial"/>
              <a:buChar char="•"/>
            </a:pPr>
            <a:r>
              <a:rPr lang="en-US" sz="2957">
                <a:solidFill>
                  <a:srgbClr val="704926"/>
                </a:solidFill>
                <a:latin typeface="Roboto"/>
                <a:ea typeface="Roboto"/>
                <a:cs typeface="Roboto"/>
                <a:sym typeface="Roboto"/>
              </a:rPr>
              <a:t>Demonstrates how transparent, data-driven insights level the playing field</a:t>
            </a:r>
          </a:p>
          <a:p>
            <a:pPr algn="l">
              <a:lnSpc>
                <a:spcPts val="4139"/>
              </a:lnSpc>
            </a:pPr>
            <a:r>
              <a:rPr lang="en-US" sz="2957">
                <a:solidFill>
                  <a:srgbClr val="704926"/>
                </a:solidFill>
                <a:latin typeface="Roboto"/>
                <a:ea typeface="Roboto"/>
                <a:cs typeface="Roboto"/>
                <a:sym typeface="Roboto"/>
              </a:rPr>
              <a:t>Societal Impact</a:t>
            </a:r>
          </a:p>
          <a:p>
            <a:pPr marL="638417" lvl="1" indent="-319208" algn="l">
              <a:lnSpc>
                <a:spcPts val="4139"/>
              </a:lnSpc>
              <a:buFont typeface="Arial"/>
              <a:buChar char="•"/>
            </a:pPr>
            <a:r>
              <a:rPr lang="en-US" sz="2957">
                <a:solidFill>
                  <a:srgbClr val="704926"/>
                </a:solidFill>
                <a:latin typeface="Roboto"/>
                <a:ea typeface="Roboto"/>
                <a:cs typeface="Roboto"/>
                <a:sym typeface="Roboto"/>
              </a:rPr>
              <a:t>Democratizes knowledge normally siloed within elite organizations</a:t>
            </a:r>
          </a:p>
          <a:p>
            <a:pPr marL="638417" lvl="1" indent="-319208" algn="l">
              <a:lnSpc>
                <a:spcPts val="4139"/>
              </a:lnSpc>
              <a:buFont typeface="Arial"/>
              <a:buChar char="•"/>
            </a:pPr>
            <a:r>
              <a:rPr lang="en-US" sz="2957">
                <a:solidFill>
                  <a:srgbClr val="704926"/>
                </a:solidFill>
                <a:latin typeface="Roboto"/>
                <a:ea typeface="Roboto"/>
                <a:cs typeface="Roboto"/>
                <a:sym typeface="Roboto"/>
              </a:rPr>
              <a:t>Empowers students, educators, independent analysts, and fans</a:t>
            </a:r>
          </a:p>
          <a:p>
            <a:pPr marL="638417" lvl="1" indent="-319208" algn="l">
              <a:lnSpc>
                <a:spcPts val="4139"/>
              </a:lnSpc>
              <a:buFont typeface="Arial"/>
              <a:buChar char="•"/>
            </a:pPr>
            <a:r>
              <a:rPr lang="en-US" sz="2957">
                <a:solidFill>
                  <a:srgbClr val="704926"/>
                </a:solidFill>
                <a:latin typeface="Roboto"/>
                <a:ea typeface="Roboto"/>
                <a:cs typeface="Roboto"/>
                <a:sym typeface="Roboto"/>
              </a:rPr>
              <a:t>Fosters STEM learning and data literacy in broader society</a:t>
            </a:r>
          </a:p>
          <a:p>
            <a:pPr algn="l">
              <a:lnSpc>
                <a:spcPts val="4139"/>
              </a:lnSpc>
            </a:pPr>
            <a:r>
              <a:rPr lang="en-US" sz="2957">
                <a:solidFill>
                  <a:srgbClr val="704926"/>
                </a:solidFill>
                <a:latin typeface="Roboto"/>
                <a:ea typeface="Roboto"/>
                <a:cs typeface="Roboto"/>
                <a:sym typeface="Roboto"/>
              </a:rPr>
              <a:t>Impact Summary: Advances competitive fairness within F1 while illustrating social and commercial impact of open-data science in data-intensive fields.</a:t>
            </a:r>
          </a:p>
          <a:p>
            <a:pPr algn="l">
              <a:lnSpc>
                <a:spcPts val="4139"/>
              </a:lnSpc>
            </a:pPr>
            <a:endParaRPr lang="en-US" sz="2957">
              <a:solidFill>
                <a:srgbClr val="704926"/>
              </a:solidFill>
              <a:latin typeface="Roboto"/>
              <a:ea typeface="Roboto"/>
              <a:cs typeface="Roboto"/>
              <a:sym typeface="Roboto"/>
            </a:endParaRPr>
          </a:p>
          <a:p>
            <a:pPr algn="l">
              <a:lnSpc>
                <a:spcPts val="4139"/>
              </a:lnSpc>
            </a:pPr>
            <a:endParaRPr lang="en-US" sz="2957">
              <a:solidFill>
                <a:srgbClr val="704926"/>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l">
                <a:lnSpc>
                  <a:spcPts val="2659"/>
                </a:lnSpc>
                <a:spcBef>
                  <a:spcPct val="0"/>
                </a:spcBef>
              </a:pPr>
              <a:endParaRPr/>
            </a:p>
          </p:txBody>
        </p:sp>
      </p:grpSp>
      <p:sp>
        <p:nvSpPr>
          <p:cNvPr id="12" name="TextBox 12"/>
          <p:cNvSpPr txBox="1"/>
          <p:nvPr/>
        </p:nvSpPr>
        <p:spPr>
          <a:xfrm>
            <a:off x="-892985" y="895350"/>
            <a:ext cx="20019968" cy="1226818"/>
          </a:xfrm>
          <a:prstGeom prst="rect">
            <a:avLst/>
          </a:prstGeom>
        </p:spPr>
        <p:txBody>
          <a:bodyPr lIns="0" tIns="0" rIns="0" bIns="0" rtlCol="0" anchor="t">
            <a:spAutoFit/>
          </a:bodyPr>
          <a:lstStyle/>
          <a:p>
            <a:pPr algn="ctr">
              <a:lnSpc>
                <a:spcPts val="10080"/>
              </a:lnSpc>
            </a:pPr>
            <a:r>
              <a:rPr lang="en-US" sz="7200" b="1">
                <a:solidFill>
                  <a:srgbClr val="704926"/>
                </a:solidFill>
                <a:latin typeface="Glacial Indifference Bold"/>
                <a:ea typeface="Glacial Indifference Bold"/>
                <a:cs typeface="Glacial Indifference Bold"/>
                <a:sym typeface="Glacial Indifference Bold"/>
              </a:rPr>
              <a:t>DATA SOURCES AND CHARACTERISTICS</a:t>
            </a:r>
          </a:p>
        </p:txBody>
      </p:sp>
      <p:sp>
        <p:nvSpPr>
          <p:cNvPr id="13" name="TextBox 13"/>
          <p:cNvSpPr txBox="1"/>
          <p:nvPr/>
        </p:nvSpPr>
        <p:spPr>
          <a:xfrm>
            <a:off x="2038988" y="2761745"/>
            <a:ext cx="14062233" cy="6277605"/>
          </a:xfrm>
          <a:prstGeom prst="rect">
            <a:avLst/>
          </a:prstGeom>
        </p:spPr>
        <p:txBody>
          <a:bodyPr lIns="0" tIns="0" rIns="0" bIns="0" rtlCol="0" anchor="t">
            <a:spAutoFit/>
          </a:bodyPr>
          <a:lstStyle/>
          <a:p>
            <a:pPr algn="l">
              <a:lnSpc>
                <a:spcPts val="4139"/>
              </a:lnSpc>
            </a:pPr>
            <a:r>
              <a:rPr lang="en-US" sz="2957" b="1">
                <a:solidFill>
                  <a:srgbClr val="704926"/>
                </a:solidFill>
                <a:latin typeface="Roboto Bold"/>
                <a:ea typeface="Roboto Bold"/>
                <a:cs typeface="Roboto Bold"/>
                <a:sym typeface="Roboto Bold"/>
              </a:rPr>
              <a:t>Primary Dataset:</a:t>
            </a:r>
          </a:p>
          <a:p>
            <a:pPr algn="l">
              <a:lnSpc>
                <a:spcPts val="4139"/>
              </a:lnSpc>
            </a:pPr>
            <a:r>
              <a:rPr lang="en-US" sz="2957" b="1">
                <a:solidFill>
                  <a:srgbClr val="704926"/>
                </a:solidFill>
                <a:latin typeface="Roboto Bold"/>
                <a:ea typeface="Roboto Bold"/>
                <a:cs typeface="Roboto Bold"/>
                <a:sym typeface="Roboto Bold"/>
              </a:rPr>
              <a:t> </a:t>
            </a:r>
            <a:r>
              <a:rPr lang="en-US" sz="2957">
                <a:solidFill>
                  <a:srgbClr val="704926"/>
                </a:solidFill>
                <a:latin typeface="Roboto"/>
                <a:ea typeface="Roboto"/>
                <a:cs typeface="Roboto"/>
                <a:sym typeface="Roboto"/>
              </a:rPr>
              <a:t>Formula 1 World Championship dataset (1950–2024) from Kaggle</a:t>
            </a:r>
          </a:p>
          <a:p>
            <a:pPr algn="l">
              <a:lnSpc>
                <a:spcPts val="4139"/>
              </a:lnSpc>
            </a:pPr>
            <a:endParaRPr lang="en-US" sz="2957">
              <a:solidFill>
                <a:srgbClr val="704926"/>
              </a:solidFill>
              <a:latin typeface="Roboto"/>
              <a:ea typeface="Roboto"/>
              <a:cs typeface="Roboto"/>
              <a:sym typeface="Roboto"/>
            </a:endParaRPr>
          </a:p>
          <a:p>
            <a:pPr algn="l">
              <a:lnSpc>
                <a:spcPts val="4139"/>
              </a:lnSpc>
            </a:pPr>
            <a:r>
              <a:rPr lang="en-US" sz="2957" b="1">
                <a:solidFill>
                  <a:srgbClr val="704926"/>
                </a:solidFill>
                <a:latin typeface="Roboto Bold"/>
                <a:ea typeface="Roboto Bold"/>
                <a:cs typeface="Roboto Bold"/>
                <a:sym typeface="Roboto Bold"/>
              </a:rPr>
              <a:t>Big Data Characteristics:</a:t>
            </a:r>
          </a:p>
          <a:p>
            <a:pPr marL="638417" lvl="1" indent="-319208" algn="l">
              <a:lnSpc>
                <a:spcPts val="4139"/>
              </a:lnSpc>
              <a:buFont typeface="Arial"/>
              <a:buChar char="•"/>
            </a:pPr>
            <a:r>
              <a:rPr lang="en-US" sz="2957">
                <a:solidFill>
                  <a:srgbClr val="704926"/>
                </a:solidFill>
                <a:latin typeface="Roboto"/>
                <a:ea typeface="Roboto"/>
                <a:cs typeface="Roboto"/>
                <a:sym typeface="Roboto"/>
              </a:rPr>
              <a:t>Volume: Over seventy years of racing history with thousands of records capturing race-by-race granularity</a:t>
            </a:r>
          </a:p>
          <a:p>
            <a:pPr marL="638417" lvl="1" indent="-319208" algn="l">
              <a:lnSpc>
                <a:spcPts val="4139"/>
              </a:lnSpc>
              <a:buFont typeface="Arial"/>
              <a:buChar char="•"/>
            </a:pPr>
            <a:r>
              <a:rPr lang="en-US" sz="2957">
                <a:solidFill>
                  <a:srgbClr val="704926"/>
                </a:solidFill>
                <a:latin typeface="Roboto"/>
                <a:ea typeface="Roboto"/>
                <a:cs typeface="Roboto"/>
                <a:sym typeface="Roboto"/>
              </a:rPr>
              <a:t>Variety: Numerical timing metrics, categorical identifiers (driverId, constructorId), text (race names), geospatial variables (altitude, latitude, longitude)</a:t>
            </a:r>
          </a:p>
          <a:p>
            <a:pPr marL="638417" lvl="1" indent="-319208" algn="l">
              <a:lnSpc>
                <a:spcPts val="4139"/>
              </a:lnSpc>
              <a:buFont typeface="Arial"/>
              <a:buChar char="•"/>
            </a:pPr>
            <a:r>
              <a:rPr lang="en-US" sz="2957">
                <a:solidFill>
                  <a:srgbClr val="704926"/>
                </a:solidFill>
                <a:latin typeface="Roboto"/>
                <a:ea typeface="Roboto"/>
                <a:cs typeface="Roboto"/>
                <a:sym typeface="Roboto"/>
              </a:rPr>
              <a:t>Velocity: Static and historical data; no real-time ingestion required</a:t>
            </a:r>
          </a:p>
          <a:p>
            <a:pPr marL="638417" lvl="1" indent="-319208" algn="l">
              <a:lnSpc>
                <a:spcPts val="4139"/>
              </a:lnSpc>
              <a:buFont typeface="Arial"/>
              <a:buChar char="•"/>
            </a:pPr>
            <a:r>
              <a:rPr lang="en-US" sz="2957">
                <a:solidFill>
                  <a:srgbClr val="704926"/>
                </a:solidFill>
                <a:latin typeface="Roboto"/>
                <a:ea typeface="Roboto"/>
                <a:cs typeface="Roboto"/>
                <a:sym typeface="Roboto"/>
              </a:rPr>
              <a:t>Veracity: Rigorously cleaned to handle missing values (encoded as "\N" or blanks) and convert character timings to numeric forms</a:t>
            </a:r>
          </a:p>
          <a:p>
            <a:pPr algn="l">
              <a:lnSpc>
                <a:spcPts val="4139"/>
              </a:lnSpc>
            </a:pPr>
            <a:endParaRPr lang="en-US" sz="2957">
              <a:solidFill>
                <a:srgbClr val="704926"/>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l">
                <a:lnSpc>
                  <a:spcPts val="2659"/>
                </a:lnSpc>
                <a:spcBef>
                  <a:spcPct val="0"/>
                </a:spcBef>
              </a:pPr>
              <a:endParaRPr/>
            </a:p>
          </p:txBody>
        </p:sp>
      </p:grpSp>
      <p:sp>
        <p:nvSpPr>
          <p:cNvPr id="12" name="TextBox 12"/>
          <p:cNvSpPr txBox="1"/>
          <p:nvPr/>
        </p:nvSpPr>
        <p:spPr>
          <a:xfrm>
            <a:off x="-892985" y="942975"/>
            <a:ext cx="20019968" cy="721995"/>
          </a:xfrm>
          <a:prstGeom prst="rect">
            <a:avLst/>
          </a:prstGeom>
        </p:spPr>
        <p:txBody>
          <a:bodyPr lIns="0" tIns="0" rIns="0" bIns="0" rtlCol="0" anchor="t">
            <a:spAutoFit/>
          </a:bodyPr>
          <a:lstStyle/>
          <a:p>
            <a:pPr algn="ctr">
              <a:lnSpc>
                <a:spcPts val="5880"/>
              </a:lnSpc>
            </a:pPr>
            <a:r>
              <a:rPr lang="en-US" sz="4200" b="1">
                <a:solidFill>
                  <a:srgbClr val="704926"/>
                </a:solidFill>
                <a:latin typeface="Glacial Indifference Bold"/>
                <a:ea typeface="Glacial Indifference Bold"/>
                <a:cs typeface="Glacial Indifference Bold"/>
                <a:sym typeface="Glacial Indifference Bold"/>
              </a:rPr>
              <a:t>PLATFORMS, SOFTWARE, AND TOOLS</a:t>
            </a:r>
          </a:p>
        </p:txBody>
      </p:sp>
      <p:sp>
        <p:nvSpPr>
          <p:cNvPr id="13" name="TextBox 13"/>
          <p:cNvSpPr txBox="1"/>
          <p:nvPr/>
        </p:nvSpPr>
        <p:spPr>
          <a:xfrm>
            <a:off x="2085883" y="3923736"/>
            <a:ext cx="14062233" cy="3658692"/>
          </a:xfrm>
          <a:prstGeom prst="rect">
            <a:avLst/>
          </a:prstGeom>
        </p:spPr>
        <p:txBody>
          <a:bodyPr lIns="0" tIns="0" rIns="0" bIns="0" rtlCol="0" anchor="t">
            <a:spAutoFit/>
          </a:bodyPr>
          <a:lstStyle/>
          <a:p>
            <a:pPr marL="638417" lvl="1" indent="-319208" algn="l">
              <a:lnSpc>
                <a:spcPts val="4139"/>
              </a:lnSpc>
              <a:buFont typeface="Arial"/>
              <a:buChar char="•"/>
            </a:pPr>
            <a:r>
              <a:rPr lang="en-US" sz="2957">
                <a:solidFill>
                  <a:srgbClr val="704926"/>
                </a:solidFill>
                <a:latin typeface="Roboto"/>
                <a:ea typeface="Roboto"/>
                <a:cs typeface="Roboto"/>
                <a:sym typeface="Roboto"/>
              </a:rPr>
              <a:t>Data processing uses R and R Markdown for reproducibility, visualization (ggplot2), and modeling (randomForest). </a:t>
            </a:r>
          </a:p>
          <a:p>
            <a:pPr marL="638417" lvl="1" indent="-319208" algn="l">
              <a:lnSpc>
                <a:spcPts val="4139"/>
              </a:lnSpc>
              <a:buFont typeface="Arial"/>
              <a:buChar char="•"/>
            </a:pPr>
            <a:r>
              <a:rPr lang="en-US" sz="2957">
                <a:solidFill>
                  <a:srgbClr val="704926"/>
                </a:solidFill>
                <a:latin typeface="Roboto"/>
                <a:ea typeface="Roboto"/>
                <a:cs typeface="Roboto"/>
                <a:sym typeface="Roboto"/>
              </a:rPr>
              <a:t>The combination offers flexibility for statistical computing, visualization, and report generation. </a:t>
            </a:r>
          </a:p>
          <a:p>
            <a:pPr marL="638417" lvl="1" indent="-319208" algn="l">
              <a:lnSpc>
                <a:spcPts val="4139"/>
              </a:lnSpc>
              <a:buFont typeface="Arial"/>
              <a:buChar char="•"/>
            </a:pPr>
            <a:r>
              <a:rPr lang="en-US" sz="2957">
                <a:solidFill>
                  <a:srgbClr val="704926"/>
                </a:solidFill>
                <a:latin typeface="Roboto"/>
                <a:ea typeface="Roboto"/>
                <a:cs typeface="Roboto"/>
                <a:sym typeface="Roboto"/>
              </a:rPr>
              <a:t>The workflow is scalable with relational joins handling multi-table data, and modeling adapts for non-linear effects critical in sports analytics.</a:t>
            </a:r>
          </a:p>
          <a:p>
            <a:pPr algn="ctr">
              <a:lnSpc>
                <a:spcPts val="4139"/>
              </a:lnSpc>
            </a:pPr>
            <a:endParaRPr lang="en-US" sz="2957">
              <a:solidFill>
                <a:srgbClr val="704926"/>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l">
                <a:lnSpc>
                  <a:spcPts val="2659"/>
                </a:lnSpc>
                <a:spcBef>
                  <a:spcPct val="0"/>
                </a:spcBef>
              </a:pPr>
              <a:endParaRPr/>
            </a:p>
          </p:txBody>
        </p:sp>
      </p:grpSp>
      <p:sp>
        <p:nvSpPr>
          <p:cNvPr id="12" name="TextBox 12"/>
          <p:cNvSpPr txBox="1"/>
          <p:nvPr/>
        </p:nvSpPr>
        <p:spPr>
          <a:xfrm>
            <a:off x="-892985" y="942975"/>
            <a:ext cx="20019968" cy="721995"/>
          </a:xfrm>
          <a:prstGeom prst="rect">
            <a:avLst/>
          </a:prstGeom>
        </p:spPr>
        <p:txBody>
          <a:bodyPr lIns="0" tIns="0" rIns="0" bIns="0" rtlCol="0" anchor="t">
            <a:spAutoFit/>
          </a:bodyPr>
          <a:lstStyle/>
          <a:p>
            <a:pPr algn="ctr">
              <a:lnSpc>
                <a:spcPts val="5880"/>
              </a:lnSpc>
            </a:pPr>
            <a:r>
              <a:rPr lang="en-US" sz="4200" b="1">
                <a:solidFill>
                  <a:srgbClr val="704926"/>
                </a:solidFill>
                <a:latin typeface="Glacial Indifference Bold"/>
                <a:ea typeface="Glacial Indifference Bold"/>
                <a:cs typeface="Glacial Indifference Bold"/>
                <a:sym typeface="Glacial Indifference Bold"/>
              </a:rPr>
              <a:t>DATA ANALYSIS TECHNIQUES AND STATISTICAL METHODS</a:t>
            </a:r>
          </a:p>
        </p:txBody>
      </p:sp>
      <p:sp>
        <p:nvSpPr>
          <p:cNvPr id="13" name="TextBox 13"/>
          <p:cNvSpPr txBox="1"/>
          <p:nvPr/>
        </p:nvSpPr>
        <p:spPr>
          <a:xfrm>
            <a:off x="2085883" y="3734550"/>
            <a:ext cx="14062233" cy="37680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704926"/>
                </a:solidFill>
                <a:latin typeface="Roboto"/>
                <a:ea typeface="Roboto"/>
                <a:cs typeface="Roboto"/>
                <a:sym typeface="Roboto"/>
              </a:rPr>
              <a:t>EDA using correlation matrices, histograms, scatterplots, and smoothing lines identified key predictors of finishing position, including grid position, qualifying gap, pit stop efficiency, and recent constructor points.</a:t>
            </a:r>
          </a:p>
          <a:p>
            <a:pPr marL="518160" lvl="1" indent="-259080" algn="l">
              <a:lnSpc>
                <a:spcPts val="3359"/>
              </a:lnSpc>
              <a:buFont typeface="Arial"/>
              <a:buChar char="•"/>
            </a:pPr>
            <a:r>
              <a:rPr lang="en-US" sz="2400">
                <a:solidFill>
                  <a:srgbClr val="704926"/>
                </a:solidFill>
                <a:latin typeface="Roboto"/>
                <a:ea typeface="Roboto"/>
                <a:cs typeface="Roboto"/>
                <a:sym typeface="Roboto"/>
              </a:rPr>
              <a:t>Random forest regression was chosen for its robustness to nonlinearity, mixed data types, and overfitting resistance. It captures complex feature interactions (e.g., qualifying gaps with pit stop strategies) better than linear models, matching the multifactor nature of racing outcomes.</a:t>
            </a:r>
          </a:p>
          <a:p>
            <a:pPr marL="518160" lvl="1" indent="-259080" algn="l">
              <a:lnSpc>
                <a:spcPts val="3359"/>
              </a:lnSpc>
              <a:buFont typeface="Arial"/>
              <a:buChar char="•"/>
            </a:pPr>
            <a:r>
              <a:rPr lang="en-US" sz="2400">
                <a:solidFill>
                  <a:srgbClr val="704926"/>
                </a:solidFill>
                <a:latin typeface="Roboto"/>
                <a:ea typeface="Roboto"/>
                <a:cs typeface="Roboto"/>
                <a:sym typeface="Roboto"/>
              </a:rPr>
              <a:t>The expected result is a predictive model estimating finishing positions and supporting strategic race simulations.</a:t>
            </a:r>
          </a:p>
          <a:p>
            <a:pPr algn="ctr">
              <a:lnSpc>
                <a:spcPts val="3359"/>
              </a:lnSpc>
            </a:pPr>
            <a:endParaRPr lang="en-US" sz="2400">
              <a:solidFill>
                <a:srgbClr val="704926"/>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365556" y="857250"/>
            <a:ext cx="9556889" cy="1543050"/>
          </a:xfrm>
          <a:prstGeom prst="rect">
            <a:avLst/>
          </a:prstGeom>
        </p:spPr>
        <p:txBody>
          <a:bodyPr lIns="0" tIns="0" rIns="0" bIns="0" rtlCol="0" anchor="t">
            <a:spAutoFit/>
          </a:bodyPr>
          <a:lstStyle/>
          <a:p>
            <a:pPr algn="ctr">
              <a:lnSpc>
                <a:spcPts val="12599"/>
              </a:lnSpc>
            </a:pPr>
            <a:r>
              <a:rPr lang="en-US" sz="9000" b="1">
                <a:solidFill>
                  <a:srgbClr val="704926"/>
                </a:solidFill>
                <a:latin typeface="Glacial Indifference Bold"/>
                <a:ea typeface="Glacial Indifference Bold"/>
                <a:cs typeface="Glacial Indifference Bold"/>
                <a:sym typeface="Glacial Indifference Bold"/>
              </a:rPr>
              <a:t>DEMONSTRATION</a:t>
            </a:r>
          </a:p>
        </p:txBody>
      </p:sp>
      <p:sp>
        <p:nvSpPr>
          <p:cNvPr id="13" name="TextBox 13"/>
          <p:cNvSpPr txBox="1"/>
          <p:nvPr/>
        </p:nvSpPr>
        <p:spPr>
          <a:xfrm>
            <a:off x="4094459" y="3607010"/>
            <a:ext cx="10928658" cy="3472180"/>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704926"/>
                </a:solidFill>
                <a:latin typeface="Roboto"/>
                <a:ea typeface="Roboto"/>
                <a:cs typeface="Roboto"/>
                <a:sym typeface="Roboto"/>
              </a:rPr>
              <a:t>Objective: To demonstrate the feasibility and validity of the proposed data science approach for understanding and predicting Max Verstappen’s F1 race performance.</a:t>
            </a:r>
          </a:p>
          <a:p>
            <a:pPr algn="l">
              <a:lnSpc>
                <a:spcPts val="3919"/>
              </a:lnSpc>
            </a:pPr>
            <a:endParaRPr lang="en-US" sz="2799">
              <a:solidFill>
                <a:srgbClr val="704926"/>
              </a:solidFill>
              <a:latin typeface="Roboto"/>
              <a:ea typeface="Roboto"/>
              <a:cs typeface="Roboto"/>
              <a:sym typeface="Roboto"/>
            </a:endParaRPr>
          </a:p>
          <a:p>
            <a:pPr marL="604519" lvl="1" indent="-302260" algn="l">
              <a:lnSpc>
                <a:spcPts val="3919"/>
              </a:lnSpc>
              <a:buFont typeface="Arial"/>
              <a:buChar char="•"/>
            </a:pPr>
            <a:r>
              <a:rPr lang="en-US" sz="2799">
                <a:solidFill>
                  <a:srgbClr val="704926"/>
                </a:solidFill>
                <a:latin typeface="Roboto"/>
                <a:ea typeface="Roboto"/>
                <a:cs typeface="Roboto"/>
                <a:sym typeface="Roboto"/>
              </a:rPr>
              <a:t>Dataset: The analysis uses the Kaggle Formula 1 World Championship dataset (1950–2024)</a:t>
            </a:r>
          </a:p>
          <a:p>
            <a:pPr algn="ctr">
              <a:lnSpc>
                <a:spcPts val="3919"/>
              </a:lnSpc>
            </a:pPr>
            <a:endParaRPr lang="en-US" sz="2799">
              <a:solidFill>
                <a:srgbClr val="704926"/>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941395" y="214180"/>
            <a:ext cx="8459212" cy="1543316"/>
          </a:xfrm>
          <a:prstGeom prst="rect">
            <a:avLst/>
          </a:prstGeom>
        </p:spPr>
        <p:txBody>
          <a:bodyPr lIns="0" tIns="0" rIns="0" bIns="0" rtlCol="0" anchor="t">
            <a:spAutoFit/>
          </a:bodyPr>
          <a:lstStyle/>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PRELIMINARY EDA </a:t>
            </a:r>
          </a:p>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(BEFORE FEATURE ENGINEERING) </a:t>
            </a:r>
          </a:p>
        </p:txBody>
      </p:sp>
      <p:sp>
        <p:nvSpPr>
          <p:cNvPr id="13" name="TextBox 13"/>
          <p:cNvSpPr txBox="1"/>
          <p:nvPr/>
        </p:nvSpPr>
        <p:spPr>
          <a:xfrm>
            <a:off x="1028700" y="2797554"/>
            <a:ext cx="8553136" cy="1108710"/>
          </a:xfrm>
          <a:prstGeom prst="rect">
            <a:avLst/>
          </a:prstGeom>
        </p:spPr>
        <p:txBody>
          <a:bodyPr lIns="0" tIns="0" rIns="0" bIns="0" rtlCol="0" anchor="t">
            <a:spAutoFit/>
          </a:bodyPr>
          <a:lstStyle/>
          <a:p>
            <a:pPr algn="l">
              <a:lnSpc>
                <a:spcPts val="2940"/>
              </a:lnSpc>
            </a:pPr>
            <a:r>
              <a:rPr lang="en-US" sz="2100">
                <a:solidFill>
                  <a:srgbClr val="704926"/>
                </a:solidFill>
                <a:latin typeface="Roboto"/>
                <a:ea typeface="Roboto"/>
                <a:cs typeface="Roboto"/>
                <a:sym typeface="Roboto"/>
              </a:rPr>
              <a:t>An initial exploratory data analysis was performed prior to feature engineering to examine relationships among key   race-related variables and to identify meaningful predictors  for modeling.</a:t>
            </a:r>
          </a:p>
        </p:txBody>
      </p:sp>
      <p:sp>
        <p:nvSpPr>
          <p:cNvPr id="14" name="Freeform 14"/>
          <p:cNvSpPr/>
          <p:nvPr/>
        </p:nvSpPr>
        <p:spPr>
          <a:xfrm>
            <a:off x="10005131" y="2706932"/>
            <a:ext cx="6790952" cy="6377684"/>
          </a:xfrm>
          <a:custGeom>
            <a:avLst/>
            <a:gdLst/>
            <a:ahLst/>
            <a:cxnLst/>
            <a:rect l="l" t="t" r="r" b="b"/>
            <a:pathLst>
              <a:path w="6790952" h="6377684">
                <a:moveTo>
                  <a:pt x="0" y="0"/>
                </a:moveTo>
                <a:lnTo>
                  <a:pt x="6790952" y="0"/>
                </a:lnTo>
                <a:lnTo>
                  <a:pt x="6790952" y="6377684"/>
                </a:lnTo>
                <a:lnTo>
                  <a:pt x="0" y="6377684"/>
                </a:lnTo>
                <a:lnTo>
                  <a:pt x="0" y="0"/>
                </a:lnTo>
                <a:close/>
              </a:path>
            </a:pathLst>
          </a:custGeom>
          <a:blipFill>
            <a:blip r:embed="rId9"/>
            <a:stretch>
              <a:fillRect l="-6849" r="-6849"/>
            </a:stretch>
          </a:blipFill>
        </p:spPr>
        <p:txBody>
          <a:bodyPr/>
          <a:lstStyle/>
          <a:p>
            <a:endParaRPr lang="en-US"/>
          </a:p>
        </p:txBody>
      </p:sp>
      <p:sp>
        <p:nvSpPr>
          <p:cNvPr id="15" name="TextBox 15"/>
          <p:cNvSpPr txBox="1"/>
          <p:nvPr/>
        </p:nvSpPr>
        <p:spPr>
          <a:xfrm>
            <a:off x="1311190" y="4198596"/>
            <a:ext cx="8553136" cy="1108618"/>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704926"/>
                </a:solidFill>
                <a:latin typeface="Roboto Bold"/>
                <a:ea typeface="Roboto Bold"/>
                <a:cs typeface="Roboto Bold"/>
                <a:sym typeface="Roboto Bold"/>
              </a:rPr>
              <a:t>Grid Position vs. Finish Position</a:t>
            </a:r>
            <a:r>
              <a:rPr lang="en-US" sz="2100">
                <a:solidFill>
                  <a:srgbClr val="704926"/>
                </a:solidFill>
                <a:latin typeface="Roboto"/>
                <a:ea typeface="Roboto"/>
                <a:cs typeface="Roboto"/>
                <a:sym typeface="Roboto"/>
              </a:rPr>
              <a:t>: A moderate positive correlation (about 0.2), meaning drivers starting closer to the front grid tend to finish nearer the front, but start position isn’t everything. </a:t>
            </a:r>
          </a:p>
        </p:txBody>
      </p:sp>
      <p:sp>
        <p:nvSpPr>
          <p:cNvPr id="16" name="TextBox 16"/>
          <p:cNvSpPr txBox="1"/>
          <p:nvPr/>
        </p:nvSpPr>
        <p:spPr>
          <a:xfrm>
            <a:off x="1311190" y="5513741"/>
            <a:ext cx="8553136" cy="1108710"/>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704926"/>
                </a:solidFill>
                <a:latin typeface="Roboto Bold"/>
                <a:ea typeface="Roboto Bold"/>
                <a:cs typeface="Roboto Bold"/>
                <a:sym typeface="Roboto Bold"/>
              </a:rPr>
              <a:t>Finish Position vs. Race Points</a:t>
            </a:r>
            <a:r>
              <a:rPr lang="en-US" sz="2100">
                <a:solidFill>
                  <a:srgbClr val="704926"/>
                </a:solidFill>
                <a:latin typeface="Roboto"/>
                <a:ea typeface="Roboto"/>
                <a:cs typeface="Roboto"/>
                <a:sym typeface="Roboto"/>
              </a:rPr>
              <a:t>: A strong negative correlation (approx -0.8). This makes sense: lower (better) finishing positions yield more points in F1 scoring (P1 &gt; P2 &gt;) . </a:t>
            </a:r>
          </a:p>
        </p:txBody>
      </p:sp>
      <p:sp>
        <p:nvSpPr>
          <p:cNvPr id="17" name="TextBox 17"/>
          <p:cNvSpPr txBox="1"/>
          <p:nvPr/>
        </p:nvSpPr>
        <p:spPr>
          <a:xfrm>
            <a:off x="1311190" y="6888812"/>
            <a:ext cx="8553136" cy="1108618"/>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704926"/>
                </a:solidFill>
                <a:latin typeface="Roboto Bold"/>
                <a:ea typeface="Roboto Bold"/>
                <a:cs typeface="Roboto Bold"/>
                <a:sym typeface="Roboto Bold"/>
              </a:rPr>
              <a:t>Race Points and Championship Points: </a:t>
            </a:r>
            <a:r>
              <a:rPr lang="en-US" sz="2100">
                <a:solidFill>
                  <a:srgbClr val="704926"/>
                </a:solidFill>
                <a:latin typeface="Roboto"/>
                <a:ea typeface="Roboto"/>
                <a:cs typeface="Roboto"/>
                <a:sym typeface="Roboto"/>
              </a:rPr>
              <a:t>Strong positive relationships (0.7+), as more race points lead to increased season points for both drivers and constructors. </a:t>
            </a:r>
          </a:p>
        </p:txBody>
      </p:sp>
      <p:sp>
        <p:nvSpPr>
          <p:cNvPr id="18" name="TextBox 18"/>
          <p:cNvSpPr txBox="1"/>
          <p:nvPr/>
        </p:nvSpPr>
        <p:spPr>
          <a:xfrm>
            <a:off x="1311190" y="8206980"/>
            <a:ext cx="8553136" cy="737235"/>
          </a:xfrm>
          <a:prstGeom prst="rect">
            <a:avLst/>
          </a:prstGeom>
        </p:spPr>
        <p:txBody>
          <a:bodyPr lIns="0" tIns="0" rIns="0" bIns="0" rtlCol="0" anchor="t">
            <a:spAutoFit/>
          </a:bodyPr>
          <a:lstStyle/>
          <a:p>
            <a:pPr marL="453390" lvl="1" indent="-226695" algn="l">
              <a:lnSpc>
                <a:spcPts val="2940"/>
              </a:lnSpc>
              <a:buFont typeface="Arial"/>
              <a:buChar char="•"/>
            </a:pPr>
            <a:r>
              <a:rPr lang="en-US" sz="2100" b="1">
                <a:solidFill>
                  <a:srgbClr val="704926"/>
                </a:solidFill>
                <a:latin typeface="Roboto Bold"/>
                <a:ea typeface="Roboto Bold"/>
                <a:cs typeface="Roboto Bold"/>
                <a:sym typeface="Roboto Bold"/>
              </a:rPr>
              <a:t>Championship Points vs. Championship Position: </a:t>
            </a:r>
            <a:r>
              <a:rPr lang="en-US" sz="2100">
                <a:solidFill>
                  <a:srgbClr val="704926"/>
                </a:solidFill>
                <a:latin typeface="Roboto"/>
                <a:ea typeface="Roboto"/>
                <a:cs typeface="Roboto"/>
                <a:sym typeface="Roboto"/>
              </a:rPr>
              <a:t>Strong negative correlation (approx -0.8), as more points mean a better (lower) ranki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004402" y="942975"/>
            <a:ext cx="8279196" cy="1464945"/>
          </a:xfrm>
          <a:prstGeom prst="rect">
            <a:avLst/>
          </a:prstGeom>
        </p:spPr>
        <p:txBody>
          <a:bodyPr lIns="0" tIns="0" rIns="0" bIns="0" rtlCol="0" anchor="t">
            <a:spAutoFit/>
          </a:bodyPr>
          <a:lstStyle/>
          <a:p>
            <a:pPr algn="ctr">
              <a:lnSpc>
                <a:spcPts val="5880"/>
              </a:lnSpc>
            </a:pPr>
            <a:r>
              <a:rPr lang="en-US" sz="4200" b="1">
                <a:solidFill>
                  <a:srgbClr val="704926"/>
                </a:solidFill>
                <a:latin typeface="Glacial Indifference Bold"/>
                <a:ea typeface="Glacial Indifference Bold"/>
                <a:cs typeface="Glacial Indifference Bold"/>
                <a:sym typeface="Glacial Indifference Bold"/>
              </a:rPr>
              <a:t>DATA CLEANING AND PREPARATION</a:t>
            </a:r>
          </a:p>
        </p:txBody>
      </p:sp>
      <p:sp>
        <p:nvSpPr>
          <p:cNvPr id="13" name="TextBox 13"/>
          <p:cNvSpPr txBox="1"/>
          <p:nvPr/>
        </p:nvSpPr>
        <p:spPr>
          <a:xfrm>
            <a:off x="4377300" y="3377680"/>
            <a:ext cx="9479398" cy="446278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704926"/>
                </a:solidFill>
                <a:latin typeface="Roboto"/>
                <a:ea typeface="Roboto"/>
                <a:cs typeface="Roboto"/>
                <a:sym typeface="Roboto"/>
              </a:rPr>
              <a:t>Datasets were imported into the R environment and standardized using helper functions. </a:t>
            </a:r>
          </a:p>
          <a:p>
            <a:pPr marL="604519" lvl="1" indent="-302260" algn="just">
              <a:lnSpc>
                <a:spcPts val="3919"/>
              </a:lnSpc>
              <a:buFont typeface="Arial"/>
              <a:buChar char="•"/>
            </a:pPr>
            <a:r>
              <a:rPr lang="en-US" sz="2799">
                <a:solidFill>
                  <a:srgbClr val="704926"/>
                </a:solidFill>
                <a:latin typeface="Roboto"/>
                <a:ea typeface="Roboto"/>
                <a:cs typeface="Roboto"/>
                <a:sym typeface="Roboto"/>
              </a:rPr>
              <a:t>Missing values encoded as “\N” or blanks were recoded to NA for consistency.</a:t>
            </a:r>
          </a:p>
          <a:p>
            <a:pPr marL="604519" lvl="1" indent="-302260" algn="just">
              <a:lnSpc>
                <a:spcPts val="3919"/>
              </a:lnSpc>
              <a:buFont typeface="Arial"/>
              <a:buChar char="•"/>
            </a:pPr>
            <a:r>
              <a:rPr lang="en-US" sz="2799">
                <a:solidFill>
                  <a:srgbClr val="704926"/>
                </a:solidFill>
                <a:latin typeface="Roboto"/>
                <a:ea typeface="Roboto"/>
                <a:cs typeface="Roboto"/>
                <a:sym typeface="Roboto"/>
              </a:rPr>
              <a:t>Key transformations included converting time strings (e.g., “1:26.000”) into numeric seconds and ensuring correct categorical identifiers for merging multiple data sources.</a:t>
            </a:r>
          </a:p>
          <a:p>
            <a:pPr algn="ctr">
              <a:lnSpc>
                <a:spcPts val="3919"/>
              </a:lnSpc>
            </a:pPr>
            <a:r>
              <a:rPr lang="en-US" sz="2799">
                <a:solidFill>
                  <a:srgbClr val="704926"/>
                </a:solidFill>
                <a:latin typeface="Roboto"/>
                <a:ea typeface="Roboto"/>
                <a:cs typeface="Roboto"/>
                <a:sym typeface="Roboto"/>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1767159" y="2520573"/>
            <a:ext cx="14807683" cy="6737727"/>
            <a:chOff x="0" y="0"/>
            <a:chExt cx="3899966" cy="1774546"/>
          </a:xfrm>
        </p:grpSpPr>
        <p:sp>
          <p:nvSpPr>
            <p:cNvPr id="10" name="Freeform 10"/>
            <p:cNvSpPr/>
            <p:nvPr/>
          </p:nvSpPr>
          <p:spPr>
            <a:xfrm>
              <a:off x="0" y="0"/>
              <a:ext cx="3899966" cy="1774546"/>
            </a:xfrm>
            <a:custGeom>
              <a:avLst/>
              <a:gdLst/>
              <a:ahLst/>
              <a:cxnLst/>
              <a:rect l="l" t="t" r="r" b="b"/>
              <a:pathLst>
                <a:path w="3899966" h="1774546">
                  <a:moveTo>
                    <a:pt x="26664" y="0"/>
                  </a:moveTo>
                  <a:lnTo>
                    <a:pt x="3873302" y="0"/>
                  </a:lnTo>
                  <a:cubicBezTo>
                    <a:pt x="3888028" y="0"/>
                    <a:pt x="3899966" y="11938"/>
                    <a:pt x="3899966" y="26664"/>
                  </a:cubicBezTo>
                  <a:lnTo>
                    <a:pt x="3899966" y="1747881"/>
                  </a:lnTo>
                  <a:cubicBezTo>
                    <a:pt x="3899966" y="1754953"/>
                    <a:pt x="3897157" y="1761735"/>
                    <a:pt x="3892156" y="1766736"/>
                  </a:cubicBezTo>
                  <a:cubicBezTo>
                    <a:pt x="3887155" y="1771736"/>
                    <a:pt x="3880373" y="1774546"/>
                    <a:pt x="3873302" y="1774546"/>
                  </a:cubicBezTo>
                  <a:lnTo>
                    <a:pt x="26664" y="1774546"/>
                  </a:lnTo>
                  <a:cubicBezTo>
                    <a:pt x="11938" y="1774546"/>
                    <a:pt x="0" y="1762608"/>
                    <a:pt x="0" y="1747881"/>
                  </a:cubicBezTo>
                  <a:lnTo>
                    <a:pt x="0" y="26664"/>
                  </a:lnTo>
                  <a:cubicBezTo>
                    <a:pt x="0" y="11938"/>
                    <a:pt x="11938" y="0"/>
                    <a:pt x="26664" y="0"/>
                  </a:cubicBezTo>
                  <a:close/>
                </a:path>
              </a:pathLst>
            </a:custGeom>
            <a:solidFill>
              <a:srgbClr val="E6D1BE"/>
            </a:solidFill>
          </p:spPr>
          <p:txBody>
            <a:bodyPr/>
            <a:lstStyle/>
            <a:p>
              <a:endParaRPr lang="en-US"/>
            </a:p>
          </p:txBody>
        </p:sp>
        <p:sp>
          <p:nvSpPr>
            <p:cNvPr id="11" name="TextBox 11"/>
            <p:cNvSpPr txBox="1"/>
            <p:nvPr/>
          </p:nvSpPr>
          <p:spPr>
            <a:xfrm>
              <a:off x="0" y="-38100"/>
              <a:ext cx="3899966" cy="1812646"/>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5004402" y="942975"/>
            <a:ext cx="8279196" cy="721995"/>
          </a:xfrm>
          <a:prstGeom prst="rect">
            <a:avLst/>
          </a:prstGeom>
        </p:spPr>
        <p:txBody>
          <a:bodyPr lIns="0" tIns="0" rIns="0" bIns="0" rtlCol="0" anchor="t">
            <a:spAutoFit/>
          </a:bodyPr>
          <a:lstStyle/>
          <a:p>
            <a:pPr algn="ctr">
              <a:lnSpc>
                <a:spcPts val="5880"/>
              </a:lnSpc>
            </a:pPr>
            <a:r>
              <a:rPr lang="en-US" sz="4200" b="1">
                <a:solidFill>
                  <a:srgbClr val="704926"/>
                </a:solidFill>
                <a:latin typeface="Glacial Indifference Bold"/>
                <a:ea typeface="Glacial Indifference Bold"/>
                <a:cs typeface="Glacial Indifference Bold"/>
                <a:sym typeface="Glacial Indifference Bold"/>
              </a:rPr>
              <a:t>FEATURE ENGINEERING</a:t>
            </a:r>
          </a:p>
        </p:txBody>
      </p:sp>
      <p:sp>
        <p:nvSpPr>
          <p:cNvPr id="13" name="TextBox 13"/>
          <p:cNvSpPr txBox="1"/>
          <p:nvPr/>
        </p:nvSpPr>
        <p:spPr>
          <a:xfrm>
            <a:off x="3715787" y="3036234"/>
            <a:ext cx="10802424" cy="5717117"/>
          </a:xfrm>
          <a:prstGeom prst="rect">
            <a:avLst/>
          </a:prstGeom>
        </p:spPr>
        <p:txBody>
          <a:bodyPr lIns="0" tIns="0" rIns="0" bIns="0" rtlCol="0" anchor="t">
            <a:spAutoFit/>
          </a:bodyPr>
          <a:lstStyle/>
          <a:p>
            <a:pPr marL="442859" lvl="1" indent="-221430" algn="just">
              <a:lnSpc>
                <a:spcPts val="2871"/>
              </a:lnSpc>
              <a:buFont typeface="Arial"/>
              <a:buChar char="•"/>
            </a:pPr>
            <a:r>
              <a:rPr lang="en-US" sz="2051">
                <a:solidFill>
                  <a:srgbClr val="704926"/>
                </a:solidFill>
                <a:latin typeface="Roboto"/>
                <a:ea typeface="Roboto"/>
                <a:cs typeface="Roboto"/>
                <a:sym typeface="Roboto"/>
              </a:rPr>
              <a:t>To capture both driver strategy and contextual effects particular to Max Verstappen's performance, new predictive features were computed exclusively from his race and qualifying data. These features aimed to characterize Verstappen's competitive profile and race conditions impact:</a:t>
            </a:r>
          </a:p>
          <a:p>
            <a:pPr marL="442859" lvl="1" indent="-221430" algn="just">
              <a:lnSpc>
                <a:spcPts val="2871"/>
              </a:lnSpc>
              <a:buFont typeface="Arial"/>
              <a:buChar char="•"/>
            </a:pPr>
            <a:r>
              <a:rPr lang="en-US" sz="2051" b="1">
                <a:solidFill>
                  <a:srgbClr val="704926"/>
                </a:solidFill>
                <a:latin typeface="Roboto Bold"/>
                <a:ea typeface="Roboto Bold"/>
                <a:cs typeface="Roboto Bold"/>
                <a:sym typeface="Roboto Bold"/>
              </a:rPr>
              <a:t>Best Qualifying Lap (sec):</a:t>
            </a:r>
            <a:r>
              <a:rPr lang="en-US" sz="2051">
                <a:solidFill>
                  <a:srgbClr val="704926"/>
                </a:solidFill>
                <a:latin typeface="Roboto"/>
                <a:ea typeface="Roboto"/>
                <a:cs typeface="Roboto"/>
                <a:sym typeface="Roboto"/>
              </a:rPr>
              <a:t> For each race, Verstappen’s fastest valid qualifying lap was calculated by taking the minimum among his q1, q2, and q3 times.</a:t>
            </a:r>
          </a:p>
          <a:p>
            <a:pPr marL="442859" lvl="1" indent="-221430" algn="just">
              <a:lnSpc>
                <a:spcPts val="2871"/>
              </a:lnSpc>
              <a:buFont typeface="Arial"/>
              <a:buChar char="•"/>
            </a:pPr>
            <a:r>
              <a:rPr lang="en-US" sz="2051" b="1">
                <a:solidFill>
                  <a:srgbClr val="704926"/>
                </a:solidFill>
                <a:latin typeface="Roboto Bold"/>
                <a:ea typeface="Roboto Bold"/>
                <a:cs typeface="Roboto Bold"/>
                <a:sym typeface="Roboto Bold"/>
              </a:rPr>
              <a:t>Pit Stop Metrics:</a:t>
            </a:r>
            <a:r>
              <a:rPr lang="en-US" sz="2051">
                <a:solidFill>
                  <a:srgbClr val="704926"/>
                </a:solidFill>
                <a:latin typeface="Roboto"/>
                <a:ea typeface="Roboto"/>
                <a:cs typeface="Roboto"/>
                <a:sym typeface="Roboto"/>
              </a:rPr>
              <a:t> The total number of pit stops and their average duration for Verstappen per race were summarized to reflect his pit strategy and efficiency.</a:t>
            </a:r>
          </a:p>
          <a:p>
            <a:pPr marL="442859" lvl="1" indent="-221430" algn="just">
              <a:lnSpc>
                <a:spcPts val="2871"/>
              </a:lnSpc>
              <a:buFont typeface="Arial"/>
              <a:buChar char="•"/>
            </a:pPr>
            <a:r>
              <a:rPr lang="en-US" sz="2051" b="1">
                <a:solidFill>
                  <a:srgbClr val="704926"/>
                </a:solidFill>
                <a:latin typeface="Roboto Bold"/>
                <a:ea typeface="Roboto Bold"/>
                <a:cs typeface="Roboto Bold"/>
                <a:sym typeface="Roboto Bold"/>
              </a:rPr>
              <a:t>Average Lap Time (ms):</a:t>
            </a:r>
            <a:r>
              <a:rPr lang="en-US" sz="2051">
                <a:solidFill>
                  <a:srgbClr val="704926"/>
                </a:solidFill>
                <a:latin typeface="Roboto"/>
                <a:ea typeface="Roboto"/>
                <a:cs typeface="Roboto"/>
                <a:sym typeface="Roboto"/>
              </a:rPr>
              <a:t> Verstappen’s mean lap time per race was computed to approximate his race pace and consistency.</a:t>
            </a:r>
          </a:p>
          <a:p>
            <a:pPr marL="442859" lvl="1" indent="-221430" algn="just">
              <a:lnSpc>
                <a:spcPts val="2871"/>
              </a:lnSpc>
              <a:buFont typeface="Arial"/>
              <a:buChar char="•"/>
            </a:pPr>
            <a:r>
              <a:rPr lang="en-US" sz="2051" b="1">
                <a:solidFill>
                  <a:srgbClr val="704926"/>
                </a:solidFill>
                <a:latin typeface="Roboto Bold"/>
                <a:ea typeface="Roboto Bold"/>
                <a:cs typeface="Roboto Bold"/>
                <a:sym typeface="Roboto Bold"/>
              </a:rPr>
              <a:t>Rolling Averages:</a:t>
            </a:r>
            <a:r>
              <a:rPr lang="en-US" sz="2051">
                <a:solidFill>
                  <a:srgbClr val="704926"/>
                </a:solidFill>
                <a:latin typeface="Roboto"/>
                <a:ea typeface="Roboto"/>
                <a:cs typeface="Roboto"/>
                <a:sym typeface="Roboto"/>
              </a:rPr>
              <a:t> Rolling three-race averages of Verstappen’s recent finishing positions and constructor points illustrated his form momentum over time.</a:t>
            </a:r>
          </a:p>
          <a:p>
            <a:pPr marL="442859" lvl="1" indent="-221430" algn="just">
              <a:lnSpc>
                <a:spcPts val="2871"/>
              </a:lnSpc>
              <a:buFont typeface="Arial"/>
              <a:buChar char="•"/>
            </a:pPr>
            <a:r>
              <a:rPr lang="en-US" sz="2051" b="1">
                <a:solidFill>
                  <a:srgbClr val="704926"/>
                </a:solidFill>
                <a:latin typeface="Roboto Bold"/>
                <a:ea typeface="Roboto Bold"/>
                <a:cs typeface="Roboto Bold"/>
                <a:sym typeface="Roboto Bold"/>
              </a:rPr>
              <a:t>Qualifying Gap (qgap):</a:t>
            </a:r>
            <a:r>
              <a:rPr lang="en-US" sz="2051">
                <a:solidFill>
                  <a:srgbClr val="704926"/>
                </a:solidFill>
                <a:latin typeface="Roboto"/>
                <a:ea typeface="Roboto"/>
                <a:cs typeface="Roboto"/>
                <a:sym typeface="Roboto"/>
              </a:rPr>
              <a:t> His qualifying time gap relative to the race pole position was calculated as a measure of starting grid competitiveness</a:t>
            </a:r>
          </a:p>
          <a:p>
            <a:pPr algn="just">
              <a:lnSpc>
                <a:spcPts val="2871"/>
              </a:lnSpc>
            </a:pPr>
            <a:endParaRPr lang="en-US" sz="2051">
              <a:solidFill>
                <a:srgbClr val="704926"/>
              </a:solidFill>
              <a:latin typeface="Roboto"/>
              <a:ea typeface="Roboto"/>
              <a:cs typeface="Roboto"/>
              <a:sym typeface="Roboto"/>
            </a:endParaRPr>
          </a:p>
          <a:p>
            <a:pPr algn="ctr">
              <a:lnSpc>
                <a:spcPts val="2871"/>
              </a:lnSpc>
            </a:pPr>
            <a:r>
              <a:rPr lang="en-US" sz="2051">
                <a:solidFill>
                  <a:srgbClr val="704926"/>
                </a:solidFill>
                <a:latin typeface="Roboto"/>
                <a:ea typeface="Roboto"/>
                <a:cs typeface="Roboto"/>
                <a:sym typeface="Roboto"/>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941395" y="214180"/>
            <a:ext cx="8459212" cy="1543316"/>
          </a:xfrm>
          <a:prstGeom prst="rect">
            <a:avLst/>
          </a:prstGeom>
        </p:spPr>
        <p:txBody>
          <a:bodyPr lIns="0" tIns="0" rIns="0" bIns="0" rtlCol="0" anchor="t">
            <a:spAutoFit/>
          </a:bodyPr>
          <a:lstStyle/>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EXPLORATORY DATA ANALYSIS (POST-FEATURE ENGINEERING) </a:t>
            </a:r>
          </a:p>
        </p:txBody>
      </p:sp>
      <p:sp>
        <p:nvSpPr>
          <p:cNvPr id="13" name="TextBox 13"/>
          <p:cNvSpPr txBox="1"/>
          <p:nvPr/>
        </p:nvSpPr>
        <p:spPr>
          <a:xfrm>
            <a:off x="1311190" y="2528793"/>
            <a:ext cx="11559931" cy="6280310"/>
          </a:xfrm>
          <a:prstGeom prst="rect">
            <a:avLst/>
          </a:prstGeom>
        </p:spPr>
        <p:txBody>
          <a:bodyPr lIns="0" tIns="0" rIns="0" bIns="0" rtlCol="0" anchor="t">
            <a:spAutoFit/>
          </a:bodyPr>
          <a:lstStyle/>
          <a:p>
            <a:pPr algn="l">
              <a:lnSpc>
                <a:spcPts val="4541"/>
              </a:lnSpc>
            </a:pPr>
            <a:r>
              <a:rPr lang="en-US" sz="3243">
                <a:solidFill>
                  <a:srgbClr val="704926"/>
                </a:solidFill>
                <a:latin typeface="Roboto"/>
                <a:ea typeface="Roboto"/>
                <a:cs typeface="Roboto"/>
                <a:sym typeface="Roboto"/>
              </a:rPr>
              <a:t>After constructing a comprehensive set of engineered features focused on Max Verstappen’s race and qualifying performance, further detailed exploratory data analysis confirmed several important insights:</a:t>
            </a:r>
          </a:p>
          <a:p>
            <a:pPr marL="700316" lvl="1" indent="-350158" algn="l">
              <a:lnSpc>
                <a:spcPts val="4541"/>
              </a:lnSpc>
              <a:buFont typeface="Arial"/>
              <a:buChar char="•"/>
            </a:pPr>
            <a:r>
              <a:rPr lang="en-US" sz="3243" b="1">
                <a:solidFill>
                  <a:srgbClr val="704926"/>
                </a:solidFill>
                <a:latin typeface="Roboto Bold"/>
                <a:ea typeface="Roboto Bold"/>
                <a:cs typeface="Roboto Bold"/>
                <a:sym typeface="Roboto Bold"/>
              </a:rPr>
              <a:t>Dominance of Grid Position and Constructor Points:</a:t>
            </a:r>
            <a:r>
              <a:rPr lang="en-US" sz="3243">
                <a:solidFill>
                  <a:srgbClr val="704926"/>
                </a:solidFill>
                <a:latin typeface="Roboto"/>
                <a:ea typeface="Roboto"/>
                <a:cs typeface="Roboto"/>
                <a:sym typeface="Roboto"/>
              </a:rPr>
              <a:t> The correlation matrix revealed a strong and consistent influence of Verstappen’s grid position on his finishing position.</a:t>
            </a:r>
          </a:p>
          <a:p>
            <a:pPr marL="700316" lvl="1" indent="-350158" algn="l">
              <a:lnSpc>
                <a:spcPts val="4541"/>
              </a:lnSpc>
              <a:buFont typeface="Arial"/>
              <a:buChar char="•"/>
            </a:pPr>
            <a:r>
              <a:rPr lang="en-US" sz="3243">
                <a:solidFill>
                  <a:srgbClr val="704926"/>
                </a:solidFill>
                <a:latin typeface="Roboto"/>
                <a:ea typeface="Roboto"/>
                <a:cs typeface="Roboto"/>
                <a:sym typeface="Roboto"/>
              </a:rPr>
              <a:t>Starting near the front substantially increases the likelihood of a podium or race win.</a:t>
            </a:r>
          </a:p>
          <a:p>
            <a:pPr algn="l">
              <a:lnSpc>
                <a:spcPts val="4541"/>
              </a:lnSpc>
            </a:pPr>
            <a:endParaRPr lang="en-US" sz="3243">
              <a:solidFill>
                <a:srgbClr val="704926"/>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757458" y="3784770"/>
            <a:ext cx="6159521" cy="3801304"/>
          </a:xfrm>
          <a:custGeom>
            <a:avLst/>
            <a:gdLst/>
            <a:ahLst/>
            <a:cxnLst/>
            <a:rect l="l" t="t" r="r" b="b"/>
            <a:pathLst>
              <a:path w="6159521" h="3801304">
                <a:moveTo>
                  <a:pt x="0" y="0"/>
                </a:moveTo>
                <a:lnTo>
                  <a:pt x="6159521" y="0"/>
                </a:lnTo>
                <a:lnTo>
                  <a:pt x="6159521" y="3801305"/>
                </a:lnTo>
                <a:lnTo>
                  <a:pt x="0" y="3801305"/>
                </a:lnTo>
                <a:lnTo>
                  <a:pt x="0" y="0"/>
                </a:lnTo>
                <a:close/>
              </a:path>
            </a:pathLst>
          </a:custGeom>
          <a:blipFill>
            <a:blip r:embed="rId9"/>
            <a:stretch>
              <a:fillRect/>
            </a:stretch>
          </a:blipFill>
        </p:spPr>
        <p:txBody>
          <a:bodyPr/>
          <a:lstStyle/>
          <a:p>
            <a:endParaRPr lang="en-US"/>
          </a:p>
        </p:txBody>
      </p:sp>
      <p:sp>
        <p:nvSpPr>
          <p:cNvPr id="13" name="TextBox 13"/>
          <p:cNvSpPr txBox="1"/>
          <p:nvPr/>
        </p:nvSpPr>
        <p:spPr>
          <a:xfrm>
            <a:off x="4941395" y="233230"/>
            <a:ext cx="8459212" cy="1251585"/>
          </a:xfrm>
          <a:prstGeom prst="rect">
            <a:avLst/>
          </a:prstGeom>
        </p:spPr>
        <p:txBody>
          <a:bodyPr lIns="0" tIns="0" rIns="0" bIns="0" rtlCol="0" anchor="t">
            <a:spAutoFit/>
          </a:bodyPr>
          <a:lstStyle/>
          <a:p>
            <a:pPr algn="ctr">
              <a:lnSpc>
                <a:spcPts val="5040"/>
              </a:lnSpc>
            </a:pPr>
            <a:r>
              <a:rPr lang="en-US" sz="3600" b="1">
                <a:solidFill>
                  <a:srgbClr val="704926"/>
                </a:solidFill>
                <a:latin typeface="Glacial Indifference Bold"/>
                <a:ea typeface="Glacial Indifference Bold"/>
                <a:cs typeface="Glacial Indifference Bold"/>
                <a:sym typeface="Glacial Indifference Bold"/>
              </a:rPr>
              <a:t>POSITIVE CORRELATION BETWEEN QUALIFYING GAP AND FINISH POSITION:</a:t>
            </a:r>
          </a:p>
        </p:txBody>
      </p:sp>
      <p:sp>
        <p:nvSpPr>
          <p:cNvPr id="14" name="TextBox 14"/>
          <p:cNvSpPr txBox="1"/>
          <p:nvPr/>
        </p:nvSpPr>
        <p:spPr>
          <a:xfrm>
            <a:off x="1077394" y="3591001"/>
            <a:ext cx="8873452" cy="4904869"/>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704926"/>
                </a:solidFill>
                <a:latin typeface="Roboto"/>
                <a:ea typeface="Roboto"/>
                <a:cs typeface="Roboto"/>
                <a:sym typeface="Roboto"/>
              </a:rPr>
              <a:t>Visualizations plotting Verstappen’s qualifying gap shows that the time difference from the pole position lap against his finishing position illustrates a clear upward trend. Smaller gaps correlated with top finishes, confirming that qualifying performance is a key predictor of race success. </a:t>
            </a:r>
          </a:p>
          <a:p>
            <a:pPr marL="604519" lvl="1" indent="-302260" algn="l">
              <a:lnSpc>
                <a:spcPts val="3919"/>
              </a:lnSpc>
              <a:buFont typeface="Arial"/>
              <a:buChar char="•"/>
            </a:pPr>
            <a:r>
              <a:rPr lang="en-US" sz="2799">
                <a:solidFill>
                  <a:srgbClr val="704926"/>
                </a:solidFill>
                <a:latin typeface="Roboto"/>
                <a:ea typeface="Roboto"/>
                <a:cs typeface="Roboto"/>
                <a:sym typeface="Roboto"/>
              </a:rPr>
              <a:t>However, the data also showed exceptions where Verstappen overcame larger qualifying gaps through superior racecraft or strategy.</a:t>
            </a:r>
          </a:p>
          <a:p>
            <a:pPr algn="l">
              <a:lnSpc>
                <a:spcPts val="3485"/>
              </a:lnSpc>
            </a:pPr>
            <a:endParaRPr lang="en-US" sz="2799">
              <a:solidFill>
                <a:srgbClr val="704926"/>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900879" cy="7932852"/>
            <a:chOff x="0" y="0"/>
            <a:chExt cx="4451260" cy="2089311"/>
          </a:xfrm>
        </p:grpSpPr>
        <p:sp>
          <p:nvSpPr>
            <p:cNvPr id="10" name="Freeform 10"/>
            <p:cNvSpPr/>
            <p:nvPr/>
          </p:nvSpPr>
          <p:spPr>
            <a:xfrm>
              <a:off x="0" y="0"/>
              <a:ext cx="4451260" cy="2089311"/>
            </a:xfrm>
            <a:custGeom>
              <a:avLst/>
              <a:gdLst/>
              <a:ahLst/>
              <a:cxnLst/>
              <a:rect l="l" t="t" r="r" b="b"/>
              <a:pathLst>
                <a:path w="4451260" h="2089311">
                  <a:moveTo>
                    <a:pt x="23362" y="0"/>
                  </a:moveTo>
                  <a:lnTo>
                    <a:pt x="4427898" y="0"/>
                  </a:lnTo>
                  <a:cubicBezTo>
                    <a:pt x="4440801" y="0"/>
                    <a:pt x="4451260" y="10460"/>
                    <a:pt x="4451260" y="23362"/>
                  </a:cubicBezTo>
                  <a:lnTo>
                    <a:pt x="4451260" y="2065949"/>
                  </a:lnTo>
                  <a:cubicBezTo>
                    <a:pt x="4451260" y="2078851"/>
                    <a:pt x="4440801" y="2089311"/>
                    <a:pt x="4427898" y="2089311"/>
                  </a:cubicBezTo>
                  <a:lnTo>
                    <a:pt x="23362" y="2089311"/>
                  </a:lnTo>
                  <a:cubicBezTo>
                    <a:pt x="10460" y="2089311"/>
                    <a:pt x="0" y="2078851"/>
                    <a:pt x="0" y="2065949"/>
                  </a:cubicBezTo>
                  <a:lnTo>
                    <a:pt x="0" y="23362"/>
                  </a:lnTo>
                  <a:cubicBezTo>
                    <a:pt x="0" y="10460"/>
                    <a:pt x="10460" y="0"/>
                    <a:pt x="23362" y="0"/>
                  </a:cubicBezTo>
                  <a:close/>
                </a:path>
              </a:pathLst>
            </a:custGeom>
            <a:solidFill>
              <a:srgbClr val="E6D1BE"/>
            </a:solidFill>
          </p:spPr>
          <p:txBody>
            <a:bodyPr/>
            <a:lstStyle/>
            <a:p>
              <a:endParaRPr lang="en-US"/>
            </a:p>
          </p:txBody>
        </p:sp>
        <p:sp>
          <p:nvSpPr>
            <p:cNvPr id="11" name="TextBox 11"/>
            <p:cNvSpPr txBox="1"/>
            <p:nvPr/>
          </p:nvSpPr>
          <p:spPr>
            <a:xfrm>
              <a:off x="0" y="-38100"/>
              <a:ext cx="4451260"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8227991" y="3276531"/>
            <a:ext cx="9031309" cy="5476820"/>
          </a:xfrm>
          <a:custGeom>
            <a:avLst/>
            <a:gdLst/>
            <a:ahLst/>
            <a:cxnLst/>
            <a:rect l="l" t="t" r="r" b="b"/>
            <a:pathLst>
              <a:path w="9031309" h="5476820">
                <a:moveTo>
                  <a:pt x="0" y="0"/>
                </a:moveTo>
                <a:lnTo>
                  <a:pt x="9031309" y="0"/>
                </a:lnTo>
                <a:lnTo>
                  <a:pt x="9031309" y="5476820"/>
                </a:lnTo>
                <a:lnTo>
                  <a:pt x="0" y="5476820"/>
                </a:lnTo>
                <a:lnTo>
                  <a:pt x="0" y="0"/>
                </a:lnTo>
                <a:close/>
              </a:path>
            </a:pathLst>
          </a:custGeom>
          <a:blipFill>
            <a:blip r:embed="rId9"/>
            <a:stretch>
              <a:fillRect l="-3264"/>
            </a:stretch>
          </a:blipFill>
        </p:spPr>
        <p:txBody>
          <a:bodyPr/>
          <a:lstStyle/>
          <a:p>
            <a:endParaRPr lang="en-US"/>
          </a:p>
        </p:txBody>
      </p:sp>
      <p:sp>
        <p:nvSpPr>
          <p:cNvPr id="13" name="TextBox 13"/>
          <p:cNvSpPr txBox="1"/>
          <p:nvPr/>
        </p:nvSpPr>
        <p:spPr>
          <a:xfrm>
            <a:off x="4941395" y="214180"/>
            <a:ext cx="8459212" cy="1543316"/>
          </a:xfrm>
          <a:prstGeom prst="rect">
            <a:avLst/>
          </a:prstGeom>
        </p:spPr>
        <p:txBody>
          <a:bodyPr lIns="0" tIns="0" rIns="0" bIns="0" rtlCol="0" anchor="t">
            <a:spAutoFit/>
          </a:bodyPr>
          <a:lstStyle/>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COMPLEX PIT STOP STRATEGY RELATIONSHIPS</a:t>
            </a:r>
          </a:p>
        </p:txBody>
      </p:sp>
      <p:sp>
        <p:nvSpPr>
          <p:cNvPr id="14" name="TextBox 14"/>
          <p:cNvSpPr txBox="1"/>
          <p:nvPr/>
        </p:nvSpPr>
        <p:spPr>
          <a:xfrm>
            <a:off x="1311190" y="4042631"/>
            <a:ext cx="6558712" cy="3896995"/>
          </a:xfrm>
          <a:prstGeom prst="rect">
            <a:avLst/>
          </a:prstGeom>
        </p:spPr>
        <p:txBody>
          <a:bodyPr lIns="0" tIns="0" rIns="0" bIns="0" rtlCol="0" anchor="t">
            <a:spAutoFit/>
          </a:bodyPr>
          <a:lstStyle/>
          <a:p>
            <a:pPr marL="474979" lvl="1" indent="-237490" algn="just">
              <a:lnSpc>
                <a:spcPts val="3079"/>
              </a:lnSpc>
              <a:buFont typeface="Arial"/>
              <a:buChar char="•"/>
            </a:pPr>
            <a:r>
              <a:rPr lang="en-US" sz="2199">
                <a:solidFill>
                  <a:srgbClr val="704926"/>
                </a:solidFill>
                <a:latin typeface="Roboto"/>
                <a:ea typeface="Roboto"/>
                <a:cs typeface="Roboto"/>
                <a:sym typeface="Roboto"/>
              </a:rPr>
              <a:t>Pit stop metrics such as the number of stops and average pit stop duration exhibited intricate patterns. </a:t>
            </a:r>
          </a:p>
          <a:p>
            <a:pPr marL="474979" lvl="1" indent="-237490" algn="just">
              <a:lnSpc>
                <a:spcPts val="3079"/>
              </a:lnSpc>
              <a:buFont typeface="Arial"/>
              <a:buChar char="•"/>
            </a:pPr>
            <a:r>
              <a:rPr lang="en-US" sz="2199">
                <a:solidFill>
                  <a:srgbClr val="704926"/>
                </a:solidFill>
                <a:latin typeface="Roboto"/>
                <a:ea typeface="Roboto"/>
                <a:cs typeface="Roboto"/>
                <a:sym typeface="Roboto"/>
              </a:rPr>
              <a:t>Most races involved one or two pit stops, but some races with multiple stops or longer average pit durations still resulted in wins.</a:t>
            </a:r>
          </a:p>
          <a:p>
            <a:pPr marL="474979" lvl="1" indent="-237490" algn="just">
              <a:lnSpc>
                <a:spcPts val="3079"/>
              </a:lnSpc>
              <a:buFont typeface="Arial"/>
              <a:buChar char="•"/>
            </a:pPr>
            <a:r>
              <a:rPr lang="en-US" sz="2199">
                <a:solidFill>
                  <a:srgbClr val="704926"/>
                </a:solidFill>
                <a:latin typeface="Roboto"/>
                <a:ea typeface="Roboto"/>
                <a:cs typeface="Roboto"/>
                <a:sym typeface="Roboto"/>
              </a:rPr>
              <a:t>This indicates that while efficient pit stops generally improve race outcomes, Verstappen’s skill and tactical decisions can mitigate less optimal pit scenarios.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9619936" y="3495914"/>
            <a:ext cx="7044888" cy="4359662"/>
          </a:xfrm>
          <a:custGeom>
            <a:avLst/>
            <a:gdLst/>
            <a:ahLst/>
            <a:cxnLst/>
            <a:rect l="l" t="t" r="r" b="b"/>
            <a:pathLst>
              <a:path w="7044888" h="4359662">
                <a:moveTo>
                  <a:pt x="0" y="0"/>
                </a:moveTo>
                <a:lnTo>
                  <a:pt x="7044888" y="0"/>
                </a:lnTo>
                <a:lnTo>
                  <a:pt x="7044888" y="4359662"/>
                </a:lnTo>
                <a:lnTo>
                  <a:pt x="0" y="4359662"/>
                </a:lnTo>
                <a:lnTo>
                  <a:pt x="0" y="0"/>
                </a:lnTo>
                <a:close/>
              </a:path>
            </a:pathLst>
          </a:custGeom>
          <a:blipFill>
            <a:blip r:embed="rId9"/>
            <a:stretch>
              <a:fillRect/>
            </a:stretch>
          </a:blipFill>
        </p:spPr>
        <p:txBody>
          <a:bodyPr/>
          <a:lstStyle/>
          <a:p>
            <a:endParaRPr lang="en-US"/>
          </a:p>
        </p:txBody>
      </p:sp>
      <p:sp>
        <p:nvSpPr>
          <p:cNvPr id="13" name="TextBox 13"/>
          <p:cNvSpPr txBox="1"/>
          <p:nvPr/>
        </p:nvSpPr>
        <p:spPr>
          <a:xfrm>
            <a:off x="4941395" y="233230"/>
            <a:ext cx="8459212" cy="1251585"/>
          </a:xfrm>
          <a:prstGeom prst="rect">
            <a:avLst/>
          </a:prstGeom>
        </p:spPr>
        <p:txBody>
          <a:bodyPr lIns="0" tIns="0" rIns="0" bIns="0" rtlCol="0" anchor="t">
            <a:spAutoFit/>
          </a:bodyPr>
          <a:lstStyle/>
          <a:p>
            <a:pPr algn="ctr">
              <a:lnSpc>
                <a:spcPts val="5040"/>
              </a:lnSpc>
            </a:pPr>
            <a:r>
              <a:rPr lang="en-US" sz="3600" b="1">
                <a:solidFill>
                  <a:srgbClr val="704926"/>
                </a:solidFill>
                <a:latin typeface="Glacial Indifference Bold"/>
                <a:ea typeface="Glacial Indifference Bold"/>
                <a:cs typeface="Glacial Indifference Bold"/>
                <a:sym typeface="Glacial Indifference Bold"/>
              </a:rPr>
              <a:t>INFLUENCE OF RECENT DRIVER FORM (ROLLING MEAN FINISH POSITION): </a:t>
            </a:r>
          </a:p>
        </p:txBody>
      </p:sp>
      <p:sp>
        <p:nvSpPr>
          <p:cNvPr id="14" name="TextBox 14"/>
          <p:cNvSpPr txBox="1"/>
          <p:nvPr/>
        </p:nvSpPr>
        <p:spPr>
          <a:xfrm>
            <a:off x="936599" y="3090025"/>
            <a:ext cx="8553136" cy="51142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704926"/>
                </a:solidFill>
                <a:latin typeface="Roboto"/>
                <a:ea typeface="Roboto"/>
                <a:cs typeface="Roboto"/>
                <a:sym typeface="Roboto"/>
              </a:rPr>
              <a:t>Aparticularly strong relationship emerged between Verstappen’s average finish over the previous three racesandhis subsequent raceresult. </a:t>
            </a:r>
          </a:p>
          <a:p>
            <a:pPr marL="518160" lvl="1" indent="-259080" algn="l">
              <a:lnSpc>
                <a:spcPts val="3359"/>
              </a:lnSpc>
              <a:buFont typeface="Arial"/>
              <a:buChar char="•"/>
            </a:pPr>
            <a:r>
              <a:rPr lang="en-US" sz="2400">
                <a:solidFill>
                  <a:srgbClr val="704926"/>
                </a:solidFill>
                <a:latin typeface="Roboto"/>
                <a:ea typeface="Roboto"/>
                <a:cs typeface="Roboto"/>
                <a:sym typeface="Roboto"/>
              </a:rPr>
              <a:t>This rolling mean finish position proved to be a valuable predictor of near-term performance, indicating that momentum and  consistency significantly contribute to race outcomes. </a:t>
            </a:r>
          </a:p>
          <a:p>
            <a:pPr marL="518160" lvl="1" indent="-259080" algn="l">
              <a:lnSpc>
                <a:spcPts val="3359"/>
              </a:lnSpc>
              <a:buFont typeface="Arial"/>
              <a:buChar char="•"/>
            </a:pPr>
            <a:r>
              <a:rPr lang="en-US" sz="2400">
                <a:solidFill>
                  <a:srgbClr val="704926"/>
                </a:solidFill>
                <a:latin typeface="Roboto"/>
                <a:ea typeface="Roboto"/>
                <a:cs typeface="Roboto"/>
                <a:sym typeface="Roboto"/>
              </a:rPr>
              <a:t>The trend suggests that  Max  Verstappen’s recent performance trajectory is a critical context factor shaping  his success, reflecting both psychological confidence and stable operational conditions.</a:t>
            </a:r>
          </a:p>
          <a:p>
            <a:pPr algn="l">
              <a:lnSpc>
                <a:spcPts val="4059"/>
              </a:lnSpc>
            </a:pPr>
            <a:endParaRPr lang="en-US" sz="2400">
              <a:solidFill>
                <a:srgbClr val="704926"/>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879755"/>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690253" y="606604"/>
            <a:ext cx="10961496" cy="758467"/>
          </a:xfrm>
          <a:prstGeom prst="rect">
            <a:avLst/>
          </a:prstGeom>
        </p:spPr>
        <p:txBody>
          <a:bodyPr lIns="0" tIns="0" rIns="0" bIns="0" rtlCol="0" anchor="t">
            <a:spAutoFit/>
          </a:bodyPr>
          <a:lstStyle/>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TRAIN-TEST SPLIT AND MODEL DESIGN</a:t>
            </a:r>
          </a:p>
        </p:txBody>
      </p:sp>
      <p:sp>
        <p:nvSpPr>
          <p:cNvPr id="13" name="TextBox 13"/>
          <p:cNvSpPr txBox="1"/>
          <p:nvPr/>
        </p:nvSpPr>
        <p:spPr>
          <a:xfrm>
            <a:off x="1066800" y="4029043"/>
            <a:ext cx="15508042" cy="3437890"/>
          </a:xfrm>
          <a:prstGeom prst="rect">
            <a:avLst/>
          </a:prstGeom>
        </p:spPr>
        <p:txBody>
          <a:bodyPr lIns="0" tIns="0" rIns="0" bIns="0" rtlCol="0" anchor="t">
            <a:spAutoFit/>
          </a:bodyPr>
          <a:lstStyle/>
          <a:p>
            <a:pPr algn="l">
              <a:lnSpc>
                <a:spcPts val="3359"/>
              </a:lnSpc>
            </a:pPr>
            <a:r>
              <a:rPr lang="en-US" sz="2400" b="1">
                <a:solidFill>
                  <a:srgbClr val="704926"/>
                </a:solidFill>
                <a:latin typeface="Roboto Bold"/>
                <a:ea typeface="Roboto Bold"/>
                <a:cs typeface="Roboto Bold"/>
                <a:sym typeface="Roboto Bold"/>
              </a:rPr>
              <a:t>Data Splitting:</a:t>
            </a:r>
          </a:p>
          <a:p>
            <a:pPr marL="518160" lvl="1" indent="-259080" algn="l">
              <a:lnSpc>
                <a:spcPts val="3359"/>
              </a:lnSpc>
              <a:buFont typeface="Arial"/>
              <a:buChar char="•"/>
            </a:pPr>
            <a:r>
              <a:rPr lang="en-US" sz="2400">
                <a:solidFill>
                  <a:srgbClr val="704926"/>
                </a:solidFill>
                <a:latin typeface="Roboto"/>
                <a:ea typeface="Roboto"/>
                <a:cs typeface="Roboto"/>
                <a:sym typeface="Roboto"/>
              </a:rPr>
              <a:t>80% training data</a:t>
            </a:r>
          </a:p>
          <a:p>
            <a:pPr marL="518160" lvl="1" indent="-259080" algn="l">
              <a:lnSpc>
                <a:spcPts val="3359"/>
              </a:lnSpc>
              <a:buFont typeface="Arial"/>
              <a:buChar char="•"/>
            </a:pPr>
            <a:r>
              <a:rPr lang="en-US" sz="2400">
                <a:solidFill>
                  <a:srgbClr val="704926"/>
                </a:solidFill>
                <a:latin typeface="Roboto"/>
                <a:ea typeface="Roboto"/>
                <a:cs typeface="Roboto"/>
                <a:sym typeface="Roboto"/>
              </a:rPr>
              <a:t>20% test data</a:t>
            </a:r>
          </a:p>
          <a:p>
            <a:pPr marL="518160" lvl="1" indent="-259080" algn="l">
              <a:lnSpc>
                <a:spcPts val="3359"/>
              </a:lnSpc>
              <a:buFont typeface="Arial"/>
              <a:buChar char="•"/>
            </a:pPr>
            <a:r>
              <a:rPr lang="en-US" sz="2400">
                <a:solidFill>
                  <a:srgbClr val="704926"/>
                </a:solidFill>
                <a:latin typeface="Roboto"/>
                <a:ea typeface="Roboto"/>
                <a:cs typeface="Roboto"/>
                <a:sym typeface="Roboto"/>
              </a:rPr>
              <a:t>Ensured representative coverage</a:t>
            </a:r>
          </a:p>
          <a:p>
            <a:pPr algn="l">
              <a:lnSpc>
                <a:spcPts val="3359"/>
              </a:lnSpc>
            </a:pPr>
            <a:endParaRPr lang="en-US" sz="2400">
              <a:solidFill>
                <a:srgbClr val="704926"/>
              </a:solidFill>
              <a:latin typeface="Roboto"/>
              <a:ea typeface="Roboto"/>
              <a:cs typeface="Roboto"/>
              <a:sym typeface="Roboto"/>
            </a:endParaRPr>
          </a:p>
          <a:p>
            <a:pPr algn="l">
              <a:lnSpc>
                <a:spcPts val="3359"/>
              </a:lnSpc>
            </a:pPr>
            <a:r>
              <a:rPr lang="en-US" sz="2400" b="1">
                <a:solidFill>
                  <a:srgbClr val="704926"/>
                </a:solidFill>
                <a:latin typeface="Roboto Bold"/>
                <a:ea typeface="Roboto Bold"/>
                <a:cs typeface="Roboto Bold"/>
                <a:sym typeface="Roboto Bold"/>
              </a:rPr>
              <a:t>Predictor Variables:</a:t>
            </a:r>
            <a:r>
              <a:rPr lang="en-US" sz="2400">
                <a:solidFill>
                  <a:srgbClr val="704926"/>
                </a:solidFill>
                <a:latin typeface="Roboto"/>
                <a:ea typeface="Roboto"/>
                <a:cs typeface="Roboto"/>
                <a:sym typeface="Roboto"/>
              </a:rPr>
              <a:t> Grid position, squared grid, qualifying gap, pit stop count and duration, recent constructor form, constructor wins, recent driver finishes, altitude, latitude, longitude, temporal features (year and round)</a:t>
            </a:r>
          </a:p>
          <a:p>
            <a:pPr algn="l">
              <a:lnSpc>
                <a:spcPts val="4059"/>
              </a:lnSpc>
            </a:pPr>
            <a:endParaRPr lang="en-US" sz="2400">
              <a:solidFill>
                <a:srgbClr val="704926"/>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875494" cy="7932852"/>
            <a:chOff x="0" y="0"/>
            <a:chExt cx="4444574" cy="2089311"/>
          </a:xfrm>
        </p:grpSpPr>
        <p:sp>
          <p:nvSpPr>
            <p:cNvPr id="10" name="Freeform 10"/>
            <p:cNvSpPr/>
            <p:nvPr/>
          </p:nvSpPr>
          <p:spPr>
            <a:xfrm>
              <a:off x="0" y="0"/>
              <a:ext cx="4444574" cy="2089311"/>
            </a:xfrm>
            <a:custGeom>
              <a:avLst/>
              <a:gdLst/>
              <a:ahLst/>
              <a:cxnLst/>
              <a:rect l="l" t="t" r="r" b="b"/>
              <a:pathLst>
                <a:path w="4444574" h="2089311">
                  <a:moveTo>
                    <a:pt x="23397" y="0"/>
                  </a:moveTo>
                  <a:lnTo>
                    <a:pt x="4421177" y="0"/>
                  </a:lnTo>
                  <a:cubicBezTo>
                    <a:pt x="4427382" y="0"/>
                    <a:pt x="4433334" y="2465"/>
                    <a:pt x="4437722" y="6853"/>
                  </a:cubicBezTo>
                  <a:cubicBezTo>
                    <a:pt x="4442109" y="11241"/>
                    <a:pt x="4444574" y="17192"/>
                    <a:pt x="4444574" y="23397"/>
                  </a:cubicBezTo>
                  <a:lnTo>
                    <a:pt x="4444574" y="2065914"/>
                  </a:lnTo>
                  <a:cubicBezTo>
                    <a:pt x="4444574" y="2078836"/>
                    <a:pt x="4434099" y="2089311"/>
                    <a:pt x="4421177" y="2089311"/>
                  </a:cubicBezTo>
                  <a:lnTo>
                    <a:pt x="23397" y="2089311"/>
                  </a:lnTo>
                  <a:cubicBezTo>
                    <a:pt x="17192" y="2089311"/>
                    <a:pt x="11241" y="2086846"/>
                    <a:pt x="6853" y="2082458"/>
                  </a:cubicBezTo>
                  <a:cubicBezTo>
                    <a:pt x="2465" y="2078070"/>
                    <a:pt x="0" y="2072119"/>
                    <a:pt x="0" y="2065914"/>
                  </a:cubicBezTo>
                  <a:lnTo>
                    <a:pt x="0" y="23397"/>
                  </a:lnTo>
                  <a:cubicBezTo>
                    <a:pt x="0" y="17192"/>
                    <a:pt x="2465" y="11241"/>
                    <a:pt x="6853" y="6853"/>
                  </a:cubicBezTo>
                  <a:cubicBezTo>
                    <a:pt x="11241" y="2465"/>
                    <a:pt x="17192" y="0"/>
                    <a:pt x="23397" y="0"/>
                  </a:cubicBezTo>
                  <a:close/>
                </a:path>
              </a:pathLst>
            </a:custGeom>
            <a:solidFill>
              <a:srgbClr val="E6D1BE"/>
            </a:solidFill>
          </p:spPr>
          <p:txBody>
            <a:bodyPr/>
            <a:lstStyle/>
            <a:p>
              <a:endParaRPr lang="en-US"/>
            </a:p>
          </p:txBody>
        </p:sp>
        <p:sp>
          <p:nvSpPr>
            <p:cNvPr id="11" name="TextBox 11"/>
            <p:cNvSpPr txBox="1"/>
            <p:nvPr/>
          </p:nvSpPr>
          <p:spPr>
            <a:xfrm>
              <a:off x="0" y="-38100"/>
              <a:ext cx="444457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051560" y="3942212"/>
            <a:ext cx="7324649" cy="3524721"/>
          </a:xfrm>
          <a:custGeom>
            <a:avLst/>
            <a:gdLst/>
            <a:ahLst/>
            <a:cxnLst/>
            <a:rect l="l" t="t" r="r" b="b"/>
            <a:pathLst>
              <a:path w="7324649" h="3524721">
                <a:moveTo>
                  <a:pt x="0" y="0"/>
                </a:moveTo>
                <a:lnTo>
                  <a:pt x="7324650" y="0"/>
                </a:lnTo>
                <a:lnTo>
                  <a:pt x="7324650" y="3524721"/>
                </a:lnTo>
                <a:lnTo>
                  <a:pt x="0" y="3524721"/>
                </a:lnTo>
                <a:lnTo>
                  <a:pt x="0" y="0"/>
                </a:lnTo>
                <a:close/>
              </a:path>
            </a:pathLst>
          </a:custGeom>
          <a:blipFill>
            <a:blip r:embed="rId9"/>
            <a:stretch>
              <a:fillRect l="-18790" r="-19485"/>
            </a:stretch>
          </a:blipFill>
        </p:spPr>
        <p:txBody>
          <a:bodyPr/>
          <a:lstStyle/>
          <a:p>
            <a:endParaRPr lang="en-US"/>
          </a:p>
        </p:txBody>
      </p:sp>
      <p:sp>
        <p:nvSpPr>
          <p:cNvPr id="13" name="TextBox 13"/>
          <p:cNvSpPr txBox="1"/>
          <p:nvPr/>
        </p:nvSpPr>
        <p:spPr>
          <a:xfrm>
            <a:off x="4784013" y="962025"/>
            <a:ext cx="8459212" cy="613410"/>
          </a:xfrm>
          <a:prstGeom prst="rect">
            <a:avLst/>
          </a:prstGeom>
        </p:spPr>
        <p:txBody>
          <a:bodyPr lIns="0" tIns="0" rIns="0" bIns="0" rtlCol="0" anchor="t">
            <a:spAutoFit/>
          </a:bodyPr>
          <a:lstStyle/>
          <a:p>
            <a:pPr algn="ctr">
              <a:lnSpc>
                <a:spcPts val="5040"/>
              </a:lnSpc>
            </a:pPr>
            <a:r>
              <a:rPr lang="en-US" sz="3600" b="1">
                <a:solidFill>
                  <a:srgbClr val="704926"/>
                </a:solidFill>
                <a:latin typeface="Glacial Indifference Bold"/>
                <a:ea typeface="Glacial Indifference Bold"/>
                <a:cs typeface="Glacial Indifference Bold"/>
                <a:sym typeface="Glacial Indifference Bold"/>
              </a:rPr>
              <a:t>MODEL TRAINING AND EVALUATION </a:t>
            </a:r>
          </a:p>
        </p:txBody>
      </p:sp>
      <p:sp>
        <p:nvSpPr>
          <p:cNvPr id="14" name="TextBox 14"/>
          <p:cNvSpPr txBox="1"/>
          <p:nvPr/>
        </p:nvSpPr>
        <p:spPr>
          <a:xfrm>
            <a:off x="1028700" y="3791953"/>
            <a:ext cx="8873452" cy="37680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704926"/>
                </a:solidFill>
                <a:latin typeface="Roboto"/>
                <a:ea typeface="Roboto"/>
                <a:cs typeface="Roboto"/>
                <a:sym typeface="Roboto"/>
              </a:rPr>
              <a:t>A random forest regression model was trained using repeated 5-fold cross-validation to optimize predictive accuracy and reduce overfitting, selecting RMSE as the tuning metric. </a:t>
            </a:r>
          </a:p>
          <a:p>
            <a:pPr marL="518160" lvl="1" indent="-259080" algn="l">
              <a:lnSpc>
                <a:spcPts val="3359"/>
              </a:lnSpc>
              <a:buFont typeface="Arial"/>
              <a:buChar char="•"/>
            </a:pPr>
            <a:r>
              <a:rPr lang="en-US" sz="2400">
                <a:solidFill>
                  <a:srgbClr val="704926"/>
                </a:solidFill>
                <a:latin typeface="Roboto"/>
                <a:ea typeface="Roboto"/>
                <a:cs typeface="Roboto"/>
                <a:sym typeface="Roboto"/>
              </a:rPr>
              <a:t>The model performed well, achieving low root mean squared error and mean absolute error on both training and test data, as well as high R-squared values indicating strong explanatory power.</a:t>
            </a:r>
          </a:p>
          <a:p>
            <a:pPr marL="518160" lvl="1" indent="-259080" algn="l">
              <a:lnSpc>
                <a:spcPts val="3359"/>
              </a:lnSpc>
              <a:buFont typeface="Arial"/>
              <a:buChar char="•"/>
            </a:pPr>
            <a:r>
              <a:rPr lang="en-US" sz="2400">
                <a:solidFill>
                  <a:srgbClr val="704926"/>
                </a:solidFill>
                <a:latin typeface="Roboto"/>
                <a:ea typeface="Roboto"/>
                <a:cs typeface="Roboto"/>
                <a:sym typeface="Roboto"/>
              </a:rPr>
              <a:t>Residuals showed limited error variance, primarily due to unpredictable race events.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690253" y="606604"/>
            <a:ext cx="10961496" cy="758467"/>
          </a:xfrm>
          <a:prstGeom prst="rect">
            <a:avLst/>
          </a:prstGeom>
        </p:spPr>
        <p:txBody>
          <a:bodyPr lIns="0" tIns="0" rIns="0" bIns="0" rtlCol="0" anchor="t">
            <a:spAutoFit/>
          </a:bodyPr>
          <a:lstStyle/>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PREDICTION - 2025 ITALIAN GRAND PRIX</a:t>
            </a:r>
          </a:p>
        </p:txBody>
      </p:sp>
      <p:sp>
        <p:nvSpPr>
          <p:cNvPr id="13" name="TextBox 13"/>
          <p:cNvSpPr txBox="1"/>
          <p:nvPr/>
        </p:nvSpPr>
        <p:spPr>
          <a:xfrm>
            <a:off x="1066800" y="2358648"/>
            <a:ext cx="15508042" cy="8222616"/>
          </a:xfrm>
          <a:prstGeom prst="rect">
            <a:avLst/>
          </a:prstGeom>
        </p:spPr>
        <p:txBody>
          <a:bodyPr lIns="0" tIns="0" rIns="0" bIns="0" rtlCol="0" anchor="t">
            <a:spAutoFit/>
          </a:bodyPr>
          <a:lstStyle/>
          <a:p>
            <a:pPr algn="l">
              <a:lnSpc>
                <a:spcPts val="4059"/>
              </a:lnSpc>
            </a:pPr>
            <a:r>
              <a:rPr lang="en-US" sz="2899" b="1">
                <a:solidFill>
                  <a:srgbClr val="704926"/>
                </a:solidFill>
                <a:latin typeface="Roboto Bold"/>
                <a:ea typeface="Roboto Bold"/>
                <a:cs typeface="Roboto Bold"/>
                <a:sym typeface="Roboto Bold"/>
              </a:rPr>
              <a:t>Model Application:</a:t>
            </a:r>
          </a:p>
          <a:p>
            <a:pPr algn="l">
              <a:lnSpc>
                <a:spcPts val="4059"/>
              </a:lnSpc>
            </a:pPr>
            <a:r>
              <a:rPr lang="en-US" sz="2899" b="1">
                <a:solidFill>
                  <a:srgbClr val="704926"/>
                </a:solidFill>
                <a:latin typeface="Roboto Bold"/>
                <a:ea typeface="Roboto Bold"/>
                <a:cs typeface="Roboto Bold"/>
                <a:sym typeface="Roboto Bold"/>
              </a:rPr>
              <a:t>Input Parameters:</a:t>
            </a:r>
          </a:p>
          <a:p>
            <a:pPr marL="626106" lvl="1" indent="-313053" algn="l">
              <a:lnSpc>
                <a:spcPts val="4059"/>
              </a:lnSpc>
              <a:buFont typeface="Arial"/>
              <a:buChar char="•"/>
            </a:pPr>
            <a:r>
              <a:rPr lang="en-US" sz="2899">
                <a:solidFill>
                  <a:srgbClr val="704926"/>
                </a:solidFill>
                <a:latin typeface="Roboto"/>
                <a:ea typeface="Roboto"/>
                <a:cs typeface="Roboto"/>
                <a:sym typeface="Roboto"/>
              </a:rPr>
              <a:t>Starting grid position: 2</a:t>
            </a:r>
          </a:p>
          <a:p>
            <a:pPr marL="626106" lvl="1" indent="-313053" algn="l">
              <a:lnSpc>
                <a:spcPts val="4059"/>
              </a:lnSpc>
              <a:buFont typeface="Arial"/>
              <a:buChar char="•"/>
            </a:pPr>
            <a:r>
              <a:rPr lang="en-US" sz="2899">
                <a:solidFill>
                  <a:srgbClr val="704926"/>
                </a:solidFill>
                <a:latin typeface="Roboto"/>
                <a:ea typeface="Roboto"/>
                <a:cs typeface="Roboto"/>
                <a:sym typeface="Roboto"/>
              </a:rPr>
              <a:t>Qualifying gap: 75.5 seconds</a:t>
            </a:r>
          </a:p>
          <a:p>
            <a:pPr marL="626106" lvl="1" indent="-313053" algn="l">
              <a:lnSpc>
                <a:spcPts val="4059"/>
              </a:lnSpc>
              <a:buFont typeface="Arial"/>
              <a:buChar char="•"/>
            </a:pPr>
            <a:r>
              <a:rPr lang="en-US" sz="2899">
                <a:solidFill>
                  <a:srgbClr val="704926"/>
                </a:solidFill>
                <a:latin typeface="Roboto"/>
                <a:ea typeface="Roboto"/>
                <a:cs typeface="Roboto"/>
                <a:sym typeface="Roboto"/>
              </a:rPr>
              <a:t>Pit stops: 2 stops averaging 2.5 seconds</a:t>
            </a:r>
          </a:p>
          <a:p>
            <a:pPr marL="626106" lvl="1" indent="-313053" algn="l">
              <a:lnSpc>
                <a:spcPts val="4059"/>
              </a:lnSpc>
              <a:buFont typeface="Arial"/>
              <a:buChar char="•"/>
            </a:pPr>
            <a:r>
              <a:rPr lang="en-US" sz="2899">
                <a:solidFill>
                  <a:srgbClr val="704926"/>
                </a:solidFill>
                <a:latin typeface="Roboto"/>
                <a:ea typeface="Roboto"/>
                <a:cs typeface="Roboto"/>
                <a:sym typeface="Roboto"/>
              </a:rPr>
              <a:t>Constructor points, recent form, and Monza circuit characteristics</a:t>
            </a:r>
          </a:p>
          <a:p>
            <a:pPr algn="l">
              <a:lnSpc>
                <a:spcPts val="4059"/>
              </a:lnSpc>
            </a:pPr>
            <a:endParaRPr lang="en-US" sz="2899">
              <a:solidFill>
                <a:srgbClr val="704926"/>
              </a:solidFill>
              <a:latin typeface="Roboto"/>
              <a:ea typeface="Roboto"/>
              <a:cs typeface="Roboto"/>
              <a:sym typeface="Roboto"/>
            </a:endParaRPr>
          </a:p>
          <a:p>
            <a:pPr algn="l">
              <a:lnSpc>
                <a:spcPts val="4059"/>
              </a:lnSpc>
            </a:pPr>
            <a:r>
              <a:rPr lang="en-US" sz="2899" b="1">
                <a:solidFill>
                  <a:srgbClr val="704926"/>
                </a:solidFill>
                <a:latin typeface="Roboto Bold"/>
                <a:ea typeface="Roboto Bold"/>
                <a:cs typeface="Roboto Bold"/>
                <a:sym typeface="Roboto Bold"/>
              </a:rPr>
              <a:t>Predicted Outcome:</a:t>
            </a:r>
          </a:p>
          <a:p>
            <a:pPr marL="626106" lvl="1" indent="-313053" algn="l">
              <a:lnSpc>
                <a:spcPts val="4059"/>
              </a:lnSpc>
              <a:buFont typeface="Arial"/>
              <a:buChar char="•"/>
            </a:pPr>
            <a:r>
              <a:rPr lang="en-US" sz="2899">
                <a:solidFill>
                  <a:srgbClr val="704926"/>
                </a:solidFill>
                <a:latin typeface="Roboto"/>
                <a:ea typeface="Roboto"/>
                <a:cs typeface="Roboto"/>
                <a:sym typeface="Roboto"/>
              </a:rPr>
              <a:t>Finishing position: 2.76</a:t>
            </a:r>
          </a:p>
          <a:p>
            <a:pPr marL="626106" lvl="1" indent="-313053" algn="l">
              <a:lnSpc>
                <a:spcPts val="4059"/>
              </a:lnSpc>
              <a:buFont typeface="Arial"/>
              <a:buChar char="•"/>
            </a:pPr>
            <a:r>
              <a:rPr lang="en-US" sz="2899">
                <a:solidFill>
                  <a:srgbClr val="704926"/>
                </a:solidFill>
                <a:latin typeface="Roboto"/>
                <a:ea typeface="Roboto"/>
                <a:cs typeface="Roboto"/>
                <a:sym typeface="Roboto"/>
              </a:rPr>
              <a:t>Interpretation: Podium finish or likely victory</a:t>
            </a:r>
          </a:p>
          <a:p>
            <a:pPr algn="l">
              <a:lnSpc>
                <a:spcPts val="4059"/>
              </a:lnSpc>
            </a:pPr>
            <a:endParaRPr lang="en-US" sz="2899">
              <a:solidFill>
                <a:srgbClr val="704926"/>
              </a:solidFill>
              <a:latin typeface="Roboto"/>
              <a:ea typeface="Roboto"/>
              <a:cs typeface="Roboto"/>
              <a:sym typeface="Roboto"/>
            </a:endParaRPr>
          </a:p>
          <a:p>
            <a:pPr algn="l">
              <a:lnSpc>
                <a:spcPts val="4059"/>
              </a:lnSpc>
            </a:pPr>
            <a:r>
              <a:rPr lang="en-US" sz="2899" b="1">
                <a:solidFill>
                  <a:srgbClr val="704926"/>
                </a:solidFill>
                <a:latin typeface="Roboto Bold"/>
                <a:ea typeface="Roboto Bold"/>
                <a:cs typeface="Roboto Bold"/>
                <a:sym typeface="Roboto Bold"/>
              </a:rPr>
              <a:t>Actual Result: </a:t>
            </a:r>
            <a:r>
              <a:rPr lang="en-US" sz="2899">
                <a:solidFill>
                  <a:srgbClr val="704926"/>
                </a:solidFill>
                <a:latin typeface="Roboto"/>
                <a:ea typeface="Roboto"/>
                <a:cs typeface="Roboto"/>
                <a:sym typeface="Roboto"/>
              </a:rPr>
              <a:t>1st place in the actual race</a:t>
            </a:r>
          </a:p>
          <a:p>
            <a:pPr algn="l">
              <a:lnSpc>
                <a:spcPts val="4059"/>
              </a:lnSpc>
            </a:pPr>
            <a:endParaRPr lang="en-US" sz="2899">
              <a:solidFill>
                <a:srgbClr val="704926"/>
              </a:solidFill>
              <a:latin typeface="Roboto"/>
              <a:ea typeface="Roboto"/>
              <a:cs typeface="Roboto"/>
              <a:sym typeface="Roboto"/>
            </a:endParaRPr>
          </a:p>
          <a:p>
            <a:pPr algn="l">
              <a:lnSpc>
                <a:spcPts val="4059"/>
              </a:lnSpc>
            </a:pPr>
            <a:r>
              <a:rPr lang="en-US" sz="2899" b="1">
                <a:solidFill>
                  <a:srgbClr val="704926"/>
                </a:solidFill>
                <a:latin typeface="Roboto Bold"/>
                <a:ea typeface="Roboto Bold"/>
                <a:cs typeface="Roboto Bold"/>
                <a:sym typeface="Roboto Bold"/>
              </a:rPr>
              <a:t>Validation: </a:t>
            </a:r>
            <a:r>
              <a:rPr lang="en-US" sz="2899">
                <a:solidFill>
                  <a:srgbClr val="704926"/>
                </a:solidFill>
                <a:latin typeface="Roboto"/>
                <a:ea typeface="Roboto"/>
                <a:cs typeface="Roboto"/>
                <a:sym typeface="Roboto"/>
              </a:rPr>
              <a:t>Model successfully predicted top-tier performance</a:t>
            </a:r>
          </a:p>
          <a:p>
            <a:pPr algn="l">
              <a:lnSpc>
                <a:spcPts val="4059"/>
              </a:lnSpc>
            </a:pPr>
            <a:endParaRPr lang="en-US" sz="2899">
              <a:solidFill>
                <a:srgbClr val="704926"/>
              </a:solidFill>
              <a:latin typeface="Roboto"/>
              <a:ea typeface="Roboto"/>
              <a:cs typeface="Roboto"/>
              <a:sym typeface="Roboto"/>
            </a:endParaRPr>
          </a:p>
          <a:p>
            <a:pPr algn="l">
              <a:lnSpc>
                <a:spcPts val="4059"/>
              </a:lnSpc>
            </a:pPr>
            <a:endParaRPr lang="en-US" sz="2899">
              <a:solidFill>
                <a:srgbClr val="704926"/>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173944" y="3164082"/>
            <a:ext cx="6814043" cy="4205238"/>
          </a:xfrm>
          <a:custGeom>
            <a:avLst/>
            <a:gdLst/>
            <a:ahLst/>
            <a:cxnLst/>
            <a:rect l="l" t="t" r="r" b="b"/>
            <a:pathLst>
              <a:path w="6814043" h="4205238">
                <a:moveTo>
                  <a:pt x="0" y="0"/>
                </a:moveTo>
                <a:lnTo>
                  <a:pt x="6814043" y="0"/>
                </a:lnTo>
                <a:lnTo>
                  <a:pt x="6814043" y="4205238"/>
                </a:lnTo>
                <a:lnTo>
                  <a:pt x="0" y="4205238"/>
                </a:lnTo>
                <a:lnTo>
                  <a:pt x="0" y="0"/>
                </a:lnTo>
                <a:close/>
              </a:path>
            </a:pathLst>
          </a:custGeom>
          <a:blipFill>
            <a:blip r:embed="rId9"/>
            <a:stretch>
              <a:fillRect/>
            </a:stretch>
          </a:blipFill>
        </p:spPr>
        <p:txBody>
          <a:bodyPr/>
          <a:lstStyle/>
          <a:p>
            <a:endParaRPr lang="en-US"/>
          </a:p>
        </p:txBody>
      </p:sp>
      <p:sp>
        <p:nvSpPr>
          <p:cNvPr id="13" name="TextBox 13"/>
          <p:cNvSpPr txBox="1"/>
          <p:nvPr/>
        </p:nvSpPr>
        <p:spPr>
          <a:xfrm>
            <a:off x="3690253" y="606604"/>
            <a:ext cx="10961496" cy="758467"/>
          </a:xfrm>
          <a:prstGeom prst="rect">
            <a:avLst/>
          </a:prstGeom>
        </p:spPr>
        <p:txBody>
          <a:bodyPr lIns="0" tIns="0" rIns="0" bIns="0" rtlCol="0" anchor="t">
            <a:spAutoFit/>
          </a:bodyPr>
          <a:lstStyle/>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GOODNESS-OF-FIT VISUALIZATION</a:t>
            </a:r>
          </a:p>
        </p:txBody>
      </p:sp>
      <p:sp>
        <p:nvSpPr>
          <p:cNvPr id="14" name="TextBox 14"/>
          <p:cNvSpPr txBox="1"/>
          <p:nvPr/>
        </p:nvSpPr>
        <p:spPr>
          <a:xfrm>
            <a:off x="1144732" y="3690840"/>
            <a:ext cx="8809198" cy="3818820"/>
          </a:xfrm>
          <a:prstGeom prst="rect">
            <a:avLst/>
          </a:prstGeom>
        </p:spPr>
        <p:txBody>
          <a:bodyPr lIns="0" tIns="0" rIns="0" bIns="0" rtlCol="0" anchor="t">
            <a:spAutoFit/>
          </a:bodyPr>
          <a:lstStyle/>
          <a:p>
            <a:pPr algn="l">
              <a:lnSpc>
                <a:spcPts val="2550"/>
              </a:lnSpc>
            </a:pPr>
            <a:r>
              <a:rPr lang="en-US" sz="1821" b="1">
                <a:solidFill>
                  <a:srgbClr val="704926"/>
                </a:solidFill>
                <a:latin typeface="Roboto Bold"/>
                <a:ea typeface="Roboto Bold"/>
                <a:cs typeface="Roboto Bold"/>
                <a:sym typeface="Roboto Bold"/>
              </a:rPr>
              <a:t>Model Performance Analysis:</a:t>
            </a:r>
          </a:p>
          <a:p>
            <a:pPr algn="l">
              <a:lnSpc>
                <a:spcPts val="2550"/>
              </a:lnSpc>
            </a:pPr>
            <a:r>
              <a:rPr lang="en-US" sz="1821" b="1">
                <a:solidFill>
                  <a:srgbClr val="704926"/>
                </a:solidFill>
                <a:latin typeface="Roboto Bold"/>
                <a:ea typeface="Roboto Bold"/>
                <a:cs typeface="Roboto Bold"/>
                <a:sym typeface="Roboto Bold"/>
              </a:rPr>
              <a:t>Strengths:</a:t>
            </a:r>
          </a:p>
          <a:p>
            <a:pPr marL="393315" lvl="1" indent="-196657" algn="l">
              <a:lnSpc>
                <a:spcPts val="2550"/>
              </a:lnSpc>
              <a:buFont typeface="Arial"/>
              <a:buChar char="•"/>
            </a:pPr>
            <a:r>
              <a:rPr lang="en-US" sz="1821">
                <a:solidFill>
                  <a:srgbClr val="704926"/>
                </a:solidFill>
                <a:latin typeface="Roboto"/>
                <a:ea typeface="Roboto"/>
                <a:cs typeface="Roboto"/>
                <a:sym typeface="Roboto"/>
              </a:rPr>
              <a:t>Most predicted values for high finishes (1st or 2nd) close to actual results</a:t>
            </a:r>
          </a:p>
          <a:p>
            <a:pPr marL="393315" lvl="1" indent="-196657" algn="l">
              <a:lnSpc>
                <a:spcPts val="2550"/>
              </a:lnSpc>
              <a:buFont typeface="Arial"/>
              <a:buChar char="•"/>
            </a:pPr>
            <a:r>
              <a:rPr lang="en-US" sz="1821">
                <a:solidFill>
                  <a:srgbClr val="704926"/>
                </a:solidFill>
                <a:latin typeface="Roboto"/>
                <a:ea typeface="Roboto"/>
                <a:cs typeface="Roboto"/>
                <a:sym typeface="Roboto"/>
              </a:rPr>
              <a:t>Clustering near identity line demonstrates accuracy for dominant winning tendencies</a:t>
            </a:r>
          </a:p>
          <a:p>
            <a:pPr marL="393315" lvl="1" indent="-196657" algn="l">
              <a:lnSpc>
                <a:spcPts val="2550"/>
              </a:lnSpc>
              <a:buFont typeface="Arial"/>
              <a:buChar char="•"/>
            </a:pPr>
            <a:r>
              <a:rPr lang="en-US" sz="1821">
                <a:solidFill>
                  <a:srgbClr val="704926"/>
                </a:solidFill>
                <a:latin typeface="Roboto"/>
                <a:ea typeface="Roboto"/>
                <a:cs typeface="Roboto"/>
                <a:sym typeface="Roboto"/>
              </a:rPr>
              <a:t>Model captures top results effectively</a:t>
            </a:r>
          </a:p>
          <a:p>
            <a:pPr algn="l">
              <a:lnSpc>
                <a:spcPts val="2550"/>
              </a:lnSpc>
            </a:pPr>
            <a:r>
              <a:rPr lang="en-US" sz="1821" b="1">
                <a:solidFill>
                  <a:srgbClr val="704926"/>
                </a:solidFill>
                <a:latin typeface="Roboto Bold"/>
                <a:ea typeface="Roboto Bold"/>
                <a:cs typeface="Roboto Bold"/>
                <a:sym typeface="Roboto Bold"/>
              </a:rPr>
              <a:t>Limitations:</a:t>
            </a:r>
          </a:p>
          <a:p>
            <a:pPr marL="393315" lvl="1" indent="-196657" algn="l">
              <a:lnSpc>
                <a:spcPts val="2550"/>
              </a:lnSpc>
              <a:buFont typeface="Arial"/>
              <a:buChar char="•"/>
            </a:pPr>
            <a:r>
              <a:rPr lang="en-US" sz="1821">
                <a:solidFill>
                  <a:srgbClr val="704926"/>
                </a:solidFill>
                <a:latin typeface="Roboto"/>
                <a:ea typeface="Roboto"/>
                <a:cs typeface="Roboto"/>
                <a:sym typeface="Roboto"/>
              </a:rPr>
              <a:t>Less precise for lower finish positions</a:t>
            </a:r>
          </a:p>
          <a:p>
            <a:pPr marL="393315" lvl="1" indent="-196657" algn="l">
              <a:lnSpc>
                <a:spcPts val="2550"/>
              </a:lnSpc>
              <a:buFont typeface="Arial"/>
              <a:buChar char="•"/>
            </a:pPr>
            <a:r>
              <a:rPr lang="en-US" sz="1821">
                <a:solidFill>
                  <a:srgbClr val="704926"/>
                </a:solidFill>
                <a:latin typeface="Roboto"/>
                <a:ea typeface="Roboto"/>
                <a:cs typeface="Roboto"/>
                <a:sym typeface="Roboto"/>
              </a:rPr>
              <a:t>Greater error and variability when Verstappen finishes further down the order</a:t>
            </a:r>
          </a:p>
          <a:p>
            <a:pPr marL="393315" lvl="1" indent="-196657" algn="l">
              <a:lnSpc>
                <a:spcPts val="2550"/>
              </a:lnSpc>
              <a:buFont typeface="Arial"/>
              <a:buChar char="•"/>
            </a:pPr>
            <a:r>
              <a:rPr lang="en-US" sz="1821">
                <a:solidFill>
                  <a:srgbClr val="704926"/>
                </a:solidFill>
                <a:latin typeface="Roboto"/>
                <a:ea typeface="Roboto"/>
                <a:cs typeface="Roboto"/>
                <a:sym typeface="Roboto"/>
              </a:rPr>
              <a:t>Spread of points reflects rare, less typical race scenarios</a:t>
            </a:r>
          </a:p>
          <a:p>
            <a:pPr algn="l">
              <a:lnSpc>
                <a:spcPts val="2550"/>
              </a:lnSpc>
            </a:pPr>
            <a:r>
              <a:rPr lang="en-US" sz="1821" b="1">
                <a:solidFill>
                  <a:srgbClr val="704926"/>
                </a:solidFill>
                <a:latin typeface="Roboto Bold"/>
                <a:ea typeface="Roboto Bold"/>
                <a:cs typeface="Roboto Bold"/>
                <a:sym typeface="Roboto Bold"/>
              </a:rPr>
              <a:t>Overall Assessment: </a:t>
            </a:r>
            <a:r>
              <a:rPr lang="en-US" sz="1821">
                <a:solidFill>
                  <a:srgbClr val="704926"/>
                </a:solidFill>
                <a:latin typeface="Roboto"/>
                <a:ea typeface="Roboto"/>
                <a:cs typeface="Roboto"/>
                <a:sym typeface="Roboto"/>
              </a:rPr>
              <a:t>Model reliably forecasts top results but shows limitations in uncommon racing outcomes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a:off x="1767159" y="7466933"/>
            <a:ext cx="14807683" cy="2572835"/>
          </a:xfrm>
          <a:custGeom>
            <a:avLst/>
            <a:gdLst/>
            <a:ahLst/>
            <a:cxnLst/>
            <a:rect l="l" t="t" r="r" b="b"/>
            <a:pathLst>
              <a:path w="14807683" h="2572835">
                <a:moveTo>
                  <a:pt x="0" y="0"/>
                </a:moveTo>
                <a:lnTo>
                  <a:pt x="14807683" y="0"/>
                </a:lnTo>
                <a:lnTo>
                  <a:pt x="14807683" y="2572835"/>
                </a:lnTo>
                <a:lnTo>
                  <a:pt x="0" y="2572835"/>
                </a:lnTo>
                <a:lnTo>
                  <a:pt x="0" y="0"/>
                </a:lnTo>
                <a:close/>
              </a:path>
            </a:pathLst>
          </a:custGeom>
          <a:blipFill>
            <a:blip r:embed="rId8"/>
            <a:stretch>
              <a:fillRect/>
            </a:stretch>
          </a:blipFill>
        </p:spPr>
        <p:txBody>
          <a:bodyPr/>
          <a:lstStyle/>
          <a:p>
            <a:endParaRPr lang="en-US"/>
          </a:p>
        </p:txBody>
      </p:sp>
      <p:grpSp>
        <p:nvGrpSpPr>
          <p:cNvPr id="9" name="Group 9"/>
          <p:cNvGrpSpPr/>
          <p:nvPr/>
        </p:nvGrpSpPr>
        <p:grpSpPr>
          <a:xfrm>
            <a:off x="767938" y="1929348"/>
            <a:ext cx="16491362" cy="7932852"/>
            <a:chOff x="0" y="0"/>
            <a:chExt cx="4343404" cy="2089311"/>
          </a:xfrm>
        </p:grpSpPr>
        <p:sp>
          <p:nvSpPr>
            <p:cNvPr id="10" name="Freeform 10"/>
            <p:cNvSpPr/>
            <p:nvPr/>
          </p:nvSpPr>
          <p:spPr>
            <a:xfrm>
              <a:off x="0" y="0"/>
              <a:ext cx="4343404" cy="2089311"/>
            </a:xfrm>
            <a:custGeom>
              <a:avLst/>
              <a:gdLst/>
              <a:ahLst/>
              <a:cxnLst/>
              <a:rect l="l" t="t" r="r" b="b"/>
              <a:pathLst>
                <a:path w="4343404" h="2089311">
                  <a:moveTo>
                    <a:pt x="23942" y="0"/>
                  </a:moveTo>
                  <a:lnTo>
                    <a:pt x="4319462" y="0"/>
                  </a:lnTo>
                  <a:cubicBezTo>
                    <a:pt x="4325812" y="0"/>
                    <a:pt x="4331901" y="2522"/>
                    <a:pt x="4336392" y="7012"/>
                  </a:cubicBezTo>
                  <a:cubicBezTo>
                    <a:pt x="4340882" y="11502"/>
                    <a:pt x="4343404" y="17592"/>
                    <a:pt x="4343404" y="23942"/>
                  </a:cubicBezTo>
                  <a:lnTo>
                    <a:pt x="4343404" y="2065369"/>
                  </a:lnTo>
                  <a:cubicBezTo>
                    <a:pt x="4343404" y="2078592"/>
                    <a:pt x="4332685" y="2089311"/>
                    <a:pt x="4319462" y="2089311"/>
                  </a:cubicBezTo>
                  <a:lnTo>
                    <a:pt x="23942" y="2089311"/>
                  </a:lnTo>
                  <a:cubicBezTo>
                    <a:pt x="10719" y="2089311"/>
                    <a:pt x="0" y="2078592"/>
                    <a:pt x="0" y="2065369"/>
                  </a:cubicBezTo>
                  <a:lnTo>
                    <a:pt x="0" y="23942"/>
                  </a:lnTo>
                  <a:cubicBezTo>
                    <a:pt x="0" y="10719"/>
                    <a:pt x="10719" y="0"/>
                    <a:pt x="23942" y="0"/>
                  </a:cubicBezTo>
                  <a:close/>
                </a:path>
              </a:pathLst>
            </a:custGeom>
            <a:solidFill>
              <a:srgbClr val="E6D1BE"/>
            </a:solidFill>
          </p:spPr>
          <p:txBody>
            <a:bodyPr/>
            <a:lstStyle/>
            <a:p>
              <a:endParaRPr lang="en-US"/>
            </a:p>
          </p:txBody>
        </p:sp>
        <p:sp>
          <p:nvSpPr>
            <p:cNvPr id="11" name="TextBox 11"/>
            <p:cNvSpPr txBox="1"/>
            <p:nvPr/>
          </p:nvSpPr>
          <p:spPr>
            <a:xfrm>
              <a:off x="0" y="-38100"/>
              <a:ext cx="4343404" cy="2127411"/>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690253" y="606604"/>
            <a:ext cx="10961496" cy="758467"/>
          </a:xfrm>
          <a:prstGeom prst="rect">
            <a:avLst/>
          </a:prstGeom>
        </p:spPr>
        <p:txBody>
          <a:bodyPr lIns="0" tIns="0" rIns="0" bIns="0" rtlCol="0" anchor="t">
            <a:spAutoFit/>
          </a:bodyPr>
          <a:lstStyle/>
          <a:p>
            <a:pPr algn="ctr">
              <a:lnSpc>
                <a:spcPts val="6179"/>
              </a:lnSpc>
            </a:pPr>
            <a:r>
              <a:rPr lang="en-US" sz="4414" b="1">
                <a:solidFill>
                  <a:srgbClr val="704926"/>
                </a:solidFill>
                <a:latin typeface="Glacial Indifference Bold"/>
                <a:ea typeface="Glacial Indifference Bold"/>
                <a:cs typeface="Glacial Indifference Bold"/>
                <a:sym typeface="Glacial Indifference Bold"/>
              </a:rPr>
              <a:t>REFERENCES</a:t>
            </a:r>
          </a:p>
        </p:txBody>
      </p:sp>
      <p:sp>
        <p:nvSpPr>
          <p:cNvPr id="13" name="TextBox 13"/>
          <p:cNvSpPr txBox="1"/>
          <p:nvPr/>
        </p:nvSpPr>
        <p:spPr>
          <a:xfrm>
            <a:off x="1076325" y="2349123"/>
            <a:ext cx="16826607" cy="7730524"/>
          </a:xfrm>
          <a:prstGeom prst="rect">
            <a:avLst/>
          </a:prstGeom>
        </p:spPr>
        <p:txBody>
          <a:bodyPr lIns="0" tIns="0" rIns="0" bIns="0" rtlCol="0" anchor="t">
            <a:spAutoFit/>
          </a:bodyPr>
          <a:lstStyle/>
          <a:p>
            <a:pPr marL="679340" lvl="1" indent="-339670" algn="l">
              <a:lnSpc>
                <a:spcPts val="4405"/>
              </a:lnSpc>
              <a:buAutoNum type="arabicPeriod"/>
            </a:pPr>
            <a:r>
              <a:rPr lang="en-US" sz="3146">
                <a:solidFill>
                  <a:srgbClr val="704926"/>
                </a:solidFill>
                <a:latin typeface="Roboto"/>
                <a:ea typeface="Roboto"/>
                <a:cs typeface="Roboto"/>
                <a:sym typeface="Roboto"/>
              </a:rPr>
              <a:t>Rao, R. (2025). Formula 1 World Championship (1950-2024) [Dataset]. Kaggle.</a:t>
            </a:r>
          </a:p>
          <a:p>
            <a:pPr marL="679340" lvl="1" indent="-339670" algn="l">
              <a:lnSpc>
                <a:spcPts val="4405"/>
              </a:lnSpc>
              <a:buAutoNum type="arabicPeriod"/>
            </a:pPr>
            <a:r>
              <a:rPr lang="en-US" sz="3146">
                <a:solidFill>
                  <a:srgbClr val="704926"/>
                </a:solidFill>
                <a:latin typeface="Roboto"/>
                <a:ea typeface="Roboto"/>
                <a:cs typeface="Roboto"/>
                <a:sym typeface="Roboto"/>
              </a:rPr>
              <a:t>Breiman, L. (2001). Random forests. Machine Learning, 45(1), 5–32.</a:t>
            </a:r>
          </a:p>
          <a:p>
            <a:pPr marL="679340" lvl="1" indent="-339670" algn="l">
              <a:lnSpc>
                <a:spcPts val="4405"/>
              </a:lnSpc>
              <a:buAutoNum type="arabicPeriod"/>
            </a:pPr>
            <a:r>
              <a:rPr lang="en-US" sz="3146">
                <a:solidFill>
                  <a:srgbClr val="704926"/>
                </a:solidFill>
                <a:latin typeface="Roboto"/>
                <a:ea typeface="Roboto"/>
                <a:cs typeface="Roboto"/>
                <a:sym typeface="Roboto"/>
              </a:rPr>
              <a:t>Ditroilo, M. (2025). Exploratory research in sport and exercise science. Journal of Sports Sciences.</a:t>
            </a:r>
          </a:p>
          <a:p>
            <a:pPr marL="679340" lvl="1" indent="-339670" algn="l">
              <a:lnSpc>
                <a:spcPts val="4405"/>
              </a:lnSpc>
              <a:buAutoNum type="arabicPeriod"/>
            </a:pPr>
            <a:r>
              <a:rPr lang="en-US" sz="3146">
                <a:solidFill>
                  <a:srgbClr val="704926"/>
                </a:solidFill>
                <a:latin typeface="Roboto"/>
                <a:ea typeface="Roboto"/>
                <a:cs typeface="Roboto"/>
                <a:sym typeface="Roboto"/>
              </a:rPr>
              <a:t>Kuhn, M. (2008). Building Predictive Models in R Using the caret Package. Journal of Statistical Software, 28(5).</a:t>
            </a:r>
          </a:p>
          <a:p>
            <a:pPr marL="679340" lvl="1" indent="-339670" algn="l">
              <a:lnSpc>
                <a:spcPts val="4405"/>
              </a:lnSpc>
              <a:buAutoNum type="arabicPeriod"/>
            </a:pPr>
            <a:r>
              <a:rPr lang="en-US" sz="3146">
                <a:solidFill>
                  <a:srgbClr val="704926"/>
                </a:solidFill>
                <a:latin typeface="Roboto"/>
                <a:ea typeface="Roboto"/>
                <a:cs typeface="Roboto"/>
                <a:sym typeface="Roboto"/>
              </a:rPr>
              <a:t>Weissbock, J., &amp; Mills, S. (2025). Evaluating the predictive power of qualifying performance in Formula One Grand Prix. arXiv Preprint.</a:t>
            </a:r>
          </a:p>
          <a:p>
            <a:pPr marL="679340" lvl="1" indent="-339670" algn="l">
              <a:lnSpc>
                <a:spcPts val="4405"/>
              </a:lnSpc>
              <a:buAutoNum type="arabicPeriod"/>
            </a:pPr>
            <a:r>
              <a:rPr lang="en-US" sz="3146">
                <a:solidFill>
                  <a:srgbClr val="704926"/>
                </a:solidFill>
                <a:latin typeface="Roboto"/>
                <a:ea typeface="Roboto"/>
                <a:cs typeface="Roboto"/>
                <a:sym typeface="Roboto"/>
              </a:rPr>
              <a:t>R Core Team. (2024). R: A Language and Environment for Statistical Computing. Vienna, Austria: R Foundation for Statistical Computing.</a:t>
            </a:r>
          </a:p>
          <a:p>
            <a:pPr marL="679340" lvl="1" indent="-339670" algn="l">
              <a:lnSpc>
                <a:spcPts val="4405"/>
              </a:lnSpc>
              <a:buAutoNum type="arabicPeriod"/>
            </a:pPr>
            <a:r>
              <a:rPr lang="en-US" sz="3146">
                <a:solidFill>
                  <a:srgbClr val="704926"/>
                </a:solidFill>
                <a:latin typeface="Roboto"/>
                <a:ea typeface="Roboto"/>
                <a:cs typeface="Roboto"/>
                <a:sym typeface="Roboto"/>
              </a:rPr>
              <a:t>Cole, N. L. (2024). The societal impact of open science: A scoping review. PLoS ONE, 19(6), e261965.</a:t>
            </a:r>
          </a:p>
          <a:p>
            <a:pPr algn="l">
              <a:lnSpc>
                <a:spcPts val="4405"/>
              </a:lnSpc>
            </a:pPr>
            <a:endParaRPr lang="en-US" sz="3146">
              <a:solidFill>
                <a:srgbClr val="704926"/>
              </a:solidFill>
              <a:latin typeface="Roboto"/>
              <a:ea typeface="Roboto"/>
              <a:cs typeface="Roboto"/>
              <a:sym typeface="Roboto"/>
            </a:endParaRPr>
          </a:p>
          <a:p>
            <a:pPr algn="l">
              <a:lnSpc>
                <a:spcPts val="4405"/>
              </a:lnSpc>
            </a:pPr>
            <a:endParaRPr lang="en-US" sz="3146">
              <a:solidFill>
                <a:srgbClr val="704926"/>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DDFD2"/>
        </a:solidFill>
        <a:effectLst/>
      </p:bgPr>
    </p:bg>
    <p:spTree>
      <p:nvGrpSpPr>
        <p:cNvPr id="1" name=""/>
        <p:cNvGrpSpPr/>
        <p:nvPr/>
      </p:nvGrpSpPr>
      <p:grpSpPr>
        <a:xfrm>
          <a:off x="0" y="0"/>
          <a:ext cx="0" cy="0"/>
          <a:chOff x="0" y="0"/>
          <a:chExt cx="0" cy="0"/>
        </a:xfrm>
      </p:grpSpPr>
      <p:sp>
        <p:nvSpPr>
          <p:cNvPr id="2" name="Freeform 2"/>
          <p:cNvSpPr/>
          <p:nvPr/>
        </p:nvSpPr>
        <p:spPr>
          <a:xfrm>
            <a:off x="-1115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16999"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2366942">
            <a:off x="-126911" y="5961177"/>
            <a:ext cx="2876202" cy="5265358"/>
          </a:xfrm>
          <a:custGeom>
            <a:avLst/>
            <a:gdLst/>
            <a:ahLst/>
            <a:cxnLst/>
            <a:rect l="l" t="t" r="r" b="b"/>
            <a:pathLst>
              <a:path w="2876202" h="5265358">
                <a:moveTo>
                  <a:pt x="0" y="0"/>
                </a:moveTo>
                <a:lnTo>
                  <a:pt x="2876202" y="0"/>
                </a:lnTo>
                <a:lnTo>
                  <a:pt x="2876202" y="5265358"/>
                </a:lnTo>
                <a:lnTo>
                  <a:pt x="0" y="5265358"/>
                </a:lnTo>
                <a:lnTo>
                  <a:pt x="0" y="0"/>
                </a:lnTo>
                <a:close/>
              </a:path>
            </a:pathLst>
          </a:custGeom>
          <a:blipFill>
            <a:blip r:embed="rId4"/>
            <a:stretch>
              <a:fillRect/>
            </a:stretch>
          </a:blipFill>
        </p:spPr>
        <p:txBody>
          <a:bodyPr/>
          <a:lstStyle/>
          <a:p>
            <a:endParaRPr lang="en-US"/>
          </a:p>
        </p:txBody>
      </p:sp>
      <p:sp>
        <p:nvSpPr>
          <p:cNvPr id="5" name="Freeform 5"/>
          <p:cNvSpPr/>
          <p:nvPr/>
        </p:nvSpPr>
        <p:spPr>
          <a:xfrm rot="-1990981" flipH="1">
            <a:off x="16289208" y="361399"/>
            <a:ext cx="2434468" cy="4318346"/>
          </a:xfrm>
          <a:custGeom>
            <a:avLst/>
            <a:gdLst/>
            <a:ahLst/>
            <a:cxnLst/>
            <a:rect l="l" t="t" r="r" b="b"/>
            <a:pathLst>
              <a:path w="2434468" h="4318346">
                <a:moveTo>
                  <a:pt x="2434468" y="0"/>
                </a:moveTo>
                <a:lnTo>
                  <a:pt x="0" y="0"/>
                </a:lnTo>
                <a:lnTo>
                  <a:pt x="0" y="4318347"/>
                </a:lnTo>
                <a:lnTo>
                  <a:pt x="2434468" y="4318347"/>
                </a:lnTo>
                <a:lnTo>
                  <a:pt x="2434468" y="0"/>
                </a:lnTo>
                <a:close/>
              </a:path>
            </a:pathLst>
          </a:custGeom>
          <a:blipFill>
            <a:blip r:embed="rId5"/>
            <a:stretch>
              <a:fillRect/>
            </a:stretch>
          </a:blipFill>
        </p:spPr>
        <p:txBody>
          <a:bodyPr/>
          <a:lstStyle/>
          <a:p>
            <a:endParaRPr lang="en-US"/>
          </a:p>
        </p:txBody>
      </p:sp>
      <p:sp>
        <p:nvSpPr>
          <p:cNvPr id="6" name="Freeform 6"/>
          <p:cNvSpPr/>
          <p:nvPr/>
        </p:nvSpPr>
        <p:spPr>
          <a:xfrm rot="1801933">
            <a:off x="-1533814" y="-2726999"/>
            <a:ext cx="5690008" cy="5453997"/>
          </a:xfrm>
          <a:custGeom>
            <a:avLst/>
            <a:gdLst/>
            <a:ahLst/>
            <a:cxnLst/>
            <a:rect l="l" t="t" r="r" b="b"/>
            <a:pathLst>
              <a:path w="5690008" h="5453997">
                <a:moveTo>
                  <a:pt x="0" y="0"/>
                </a:moveTo>
                <a:lnTo>
                  <a:pt x="5690008" y="0"/>
                </a:lnTo>
                <a:lnTo>
                  <a:pt x="5690008" y="5453998"/>
                </a:lnTo>
                <a:lnTo>
                  <a:pt x="0" y="5453998"/>
                </a:lnTo>
                <a:lnTo>
                  <a:pt x="0" y="0"/>
                </a:lnTo>
                <a:close/>
              </a:path>
            </a:pathLst>
          </a:custGeom>
          <a:blipFill>
            <a:blip r:embed="rId6"/>
            <a:stretch>
              <a:fillRect/>
            </a:stretch>
          </a:blipFill>
        </p:spPr>
        <p:txBody>
          <a:bodyPr/>
          <a:lstStyle/>
          <a:p>
            <a:endParaRPr lang="en-US"/>
          </a:p>
        </p:txBody>
      </p:sp>
      <p:sp>
        <p:nvSpPr>
          <p:cNvPr id="7" name="Freeform 7"/>
          <p:cNvSpPr/>
          <p:nvPr/>
        </p:nvSpPr>
        <p:spPr>
          <a:xfrm rot="1801933">
            <a:off x="12301956" y="7898863"/>
            <a:ext cx="7598531" cy="7283358"/>
          </a:xfrm>
          <a:custGeom>
            <a:avLst/>
            <a:gdLst/>
            <a:ahLst/>
            <a:cxnLst/>
            <a:rect l="l" t="t" r="r" b="b"/>
            <a:pathLst>
              <a:path w="7598531" h="7283358">
                <a:moveTo>
                  <a:pt x="0" y="0"/>
                </a:moveTo>
                <a:lnTo>
                  <a:pt x="7598531" y="0"/>
                </a:lnTo>
                <a:lnTo>
                  <a:pt x="7598531" y="7283358"/>
                </a:lnTo>
                <a:lnTo>
                  <a:pt x="0" y="7283358"/>
                </a:lnTo>
                <a:lnTo>
                  <a:pt x="0" y="0"/>
                </a:lnTo>
                <a:close/>
              </a:path>
            </a:pathLst>
          </a:custGeom>
          <a:blipFill>
            <a:blip r:embed="rId7"/>
            <a:stretch>
              <a:fillRect/>
            </a:stretch>
          </a:blipFill>
        </p:spPr>
        <p:txBody>
          <a:bodyPr/>
          <a:lstStyle/>
          <a:p>
            <a:endParaRPr lang="en-US"/>
          </a:p>
        </p:txBody>
      </p:sp>
      <p:sp>
        <p:nvSpPr>
          <p:cNvPr id="8" name="Freeform 8"/>
          <p:cNvSpPr/>
          <p:nvPr/>
        </p:nvSpPr>
        <p:spPr>
          <a:xfrm rot="-183290" flipV="1">
            <a:off x="4771187" y="1266011"/>
            <a:ext cx="8799626" cy="7455683"/>
          </a:xfrm>
          <a:custGeom>
            <a:avLst/>
            <a:gdLst/>
            <a:ahLst/>
            <a:cxnLst/>
            <a:rect l="l" t="t" r="r" b="b"/>
            <a:pathLst>
              <a:path w="8799626" h="7455683">
                <a:moveTo>
                  <a:pt x="0" y="7455683"/>
                </a:moveTo>
                <a:lnTo>
                  <a:pt x="8799627" y="7455683"/>
                </a:lnTo>
                <a:lnTo>
                  <a:pt x="8799627" y="0"/>
                </a:lnTo>
                <a:lnTo>
                  <a:pt x="0" y="0"/>
                </a:lnTo>
                <a:lnTo>
                  <a:pt x="0" y="7455683"/>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TextBox 9"/>
          <p:cNvSpPr txBox="1"/>
          <p:nvPr/>
        </p:nvSpPr>
        <p:spPr>
          <a:xfrm>
            <a:off x="5762385" y="3012508"/>
            <a:ext cx="6709228" cy="2064638"/>
          </a:xfrm>
          <a:prstGeom prst="rect">
            <a:avLst/>
          </a:prstGeom>
        </p:spPr>
        <p:txBody>
          <a:bodyPr lIns="0" tIns="0" rIns="0" bIns="0" rtlCol="0" anchor="t">
            <a:spAutoFit/>
          </a:bodyPr>
          <a:lstStyle/>
          <a:p>
            <a:pPr algn="ctr">
              <a:lnSpc>
                <a:spcPts val="16788"/>
              </a:lnSpc>
            </a:pPr>
            <a:r>
              <a:rPr lang="en-US" sz="11992" b="1">
                <a:solidFill>
                  <a:srgbClr val="704926"/>
                </a:solidFill>
                <a:latin typeface="Glacial Indifference Bold"/>
                <a:ea typeface="Glacial Indifference Bold"/>
                <a:cs typeface="Glacial Indifference Bold"/>
                <a:sym typeface="Glacial Indifference Bold"/>
              </a:rPr>
              <a:t>THANK</a:t>
            </a:r>
          </a:p>
        </p:txBody>
      </p:sp>
      <p:sp>
        <p:nvSpPr>
          <p:cNvPr id="10" name="TextBox 10"/>
          <p:cNvSpPr txBox="1"/>
          <p:nvPr/>
        </p:nvSpPr>
        <p:spPr>
          <a:xfrm>
            <a:off x="6597041" y="4672434"/>
            <a:ext cx="5093919" cy="2064638"/>
          </a:xfrm>
          <a:prstGeom prst="rect">
            <a:avLst/>
          </a:prstGeom>
        </p:spPr>
        <p:txBody>
          <a:bodyPr lIns="0" tIns="0" rIns="0" bIns="0" rtlCol="0" anchor="t">
            <a:spAutoFit/>
          </a:bodyPr>
          <a:lstStyle/>
          <a:p>
            <a:pPr algn="ctr">
              <a:lnSpc>
                <a:spcPts val="16788"/>
              </a:lnSpc>
            </a:pPr>
            <a:r>
              <a:rPr lang="en-US" sz="11992" b="1">
                <a:solidFill>
                  <a:srgbClr val="704926"/>
                </a:solidFill>
                <a:latin typeface="Glacial Indifference Bold"/>
                <a:ea typeface="Glacial Indifference Bold"/>
                <a:cs typeface="Glacial Indifference Bold"/>
                <a:sym typeface="Glacial Indifference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358</TotalTime>
  <Words>1828</Words>
  <Application>Microsoft Macintosh PowerPoint</Application>
  <PresentationFormat>Custom</PresentationFormat>
  <Paragraphs>155</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Roboto</vt:lpstr>
      <vt:lpstr>Roboto Bold</vt:lpstr>
      <vt:lpstr>Calibri</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Brown Aesthetic Simple Research Project Presentation</dc:title>
  <cp:lastModifiedBy>Bharath Gandhimani</cp:lastModifiedBy>
  <cp:revision>2</cp:revision>
  <dcterms:created xsi:type="dcterms:W3CDTF">2006-08-16T00:00:00Z</dcterms:created>
  <dcterms:modified xsi:type="dcterms:W3CDTF">2025-10-22T08:48:18Z</dcterms:modified>
  <dc:identifier>DAG2O5ovb2Q</dc:identifier>
</cp:coreProperties>
</file>